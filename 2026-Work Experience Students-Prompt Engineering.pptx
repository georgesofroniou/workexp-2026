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4"/>
  </p:notesMasterIdLst>
  <p:sldIdLst>
    <p:sldId id="256" r:id="rId5"/>
    <p:sldId id="273" r:id="rId6"/>
    <p:sldId id="274" r:id="rId7"/>
    <p:sldId id="257" r:id="rId8"/>
    <p:sldId id="272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363"/>
    <a:srgbClr val="B9C6C8"/>
    <a:srgbClr val="030A06"/>
    <a:srgbClr val="0A66C2"/>
    <a:srgbClr val="2478FF"/>
    <a:srgbClr val="516071"/>
    <a:srgbClr val="EBF3FF"/>
    <a:srgbClr val="FFEBEB"/>
    <a:srgbClr val="FFD166"/>
    <a:srgbClr val="7EDF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0D1657-6B83-4A96-A180-56FFD3E443B3}" v="6" dt="2026-06-30T07:43:30.1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83895" autoAdjust="0"/>
  </p:normalViewPr>
  <p:slideViewPr>
    <p:cSldViewPr snapToGrid="0" showGuides="1">
      <p:cViewPr varScale="1">
        <p:scale>
          <a:sx n="62" d="100"/>
          <a:sy n="62" d="100"/>
        </p:scale>
        <p:origin x="36" y="72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793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title: How to Make AI Actually Useful
Key message: Today is about learning how to ask better questions.
Suggested visual direction: Modern AI/chatbot command-centre image with bold title overlay.
Speaker notes: Welcome students. Set a relaxed tone: they do not need to be AI experts. This session is about practical prompting tricks that make AI more helpful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0135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65EE1-101D-324F-6808-E5157982C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FD704A-B84D-A8DF-5C8C-64329A2B57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CA0C5C-A09D-93E0-F656-935DE3FD8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99094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Slide title: Demystifying AI Fundamentals 101</a:t>
            </a:r>
          </a:p>
          <a:p>
            <a:endParaRPr lang="en-GB" dirty="0"/>
          </a:p>
          <a:p>
            <a:r>
              <a:rPr lang="en-GB" dirty="0"/>
              <a:t>Key message: AI is the umbrella term. Machine Learning, Generative AI and LLMs are progressively more specific branches inside it.</a:t>
            </a:r>
          </a:p>
          <a:p>
            <a:endParaRPr lang="en-GB" dirty="0"/>
          </a:p>
          <a:p>
            <a:r>
              <a:rPr lang="en-GB" dirty="0"/>
              <a:t>Speaker talk track:</a:t>
            </a:r>
          </a:p>
          <a:p>
            <a:r>
              <a:rPr lang="en-GB" dirty="0"/>
              <a:t>Start by grounding the group: when we say “AI”, we are talking about software designed to mimic aspects of human intelligence — reasoning, pattern recognition, language and decision-making.</a:t>
            </a:r>
          </a:p>
          <a:p>
            <a:endParaRPr lang="en-GB" dirty="0"/>
          </a:p>
          <a:p>
            <a:r>
              <a:rPr lang="en-GB" dirty="0"/>
              <a:t>There are two big categories to distinguish:</a:t>
            </a:r>
          </a:p>
          <a:p>
            <a:r>
              <a:rPr lang="en-GB" dirty="0"/>
              <a:t>1. Rules-based AI follows pre-written logic. It is scripted, predictable and consistent — like an app automatically blocking banned words.</a:t>
            </a:r>
          </a:p>
          <a:p>
            <a:r>
              <a:rPr lang="en-GB" dirty="0"/>
              <a:t>2. Machine Learning AI learns from data and improves over time — like TikTok noticing which videos someone rewatches, skips or shares.</a:t>
            </a:r>
          </a:p>
          <a:p>
            <a:endParaRPr lang="en-GB" dirty="0"/>
          </a:p>
          <a:p>
            <a:r>
              <a:rPr lang="en-GB" dirty="0"/>
              <a:t>Then explain the nested circles:</a:t>
            </a:r>
          </a:p>
          <a:p>
            <a:r>
              <a:rPr lang="en-GB" dirty="0"/>
              <a:t>- Generative AI is a type of Machine Learning that creates something new, such as a caption, image, study explainer or piece of code.</a:t>
            </a:r>
          </a:p>
          <a:p>
            <a:r>
              <a:rPr lang="en-GB" dirty="0"/>
              <a:t>- Large Language Models are a type of Generative AI focused on human language, such as a chatbot that can explain homework or help rewrite a message.</a:t>
            </a:r>
          </a:p>
          <a:p>
            <a:endParaRPr lang="en-GB" dirty="0"/>
          </a:p>
          <a:p>
            <a:r>
              <a:rPr lang="en-GB" dirty="0"/>
              <a:t>Use the examples on the right to make this feel relevant for 16–19 year olds: recommendation feeds, moderation rules, TikTok behaviour signals, AI-generated media and chatbots.</a:t>
            </a:r>
          </a:p>
          <a:p>
            <a:endParaRPr lang="en-GB" dirty="0"/>
          </a:p>
          <a:p>
            <a:r>
              <a:rPr lang="en-GB" dirty="0"/>
              <a:t>Close with the takeaway: GenAI is powerful, but it is only one small part of the wider AI landscape. Prompting is mainly about getting better outcomes from GenAI and LLM-style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33745-1085-90F4-BB42-085BB9E08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86D0EA-B670-5E80-9863-09E38AF0F3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EF8759-4FAE-1524-F66F-943F21172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title: AI is not magic
Key message: AI is smart, but not psychic.
Suggested visual direction: Split screen showing vague prompt → messy answer and clear prompt → useful answer.
Speaker notes: Use the smart assistant analogy: imagine a super-fast intern who has read a huge library, but does not automatically know what you want. Better instructions make the work better.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E4322-1C3B-BD50-3FAA-AF0B3069C7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1156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title: ELI5: Generative AI creates new things
Key message: Generative AI creates things from instructions.
Suggested visual direction: Simple icons for content types: text, images, code, slides and study plans.
Speaker notes: Explain that “generative” simply means it generates new content. It is not just searching; it is creating a response based on patterns and the instructions you give.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title: What is an LLM?
Key message: An LLM is an AI model that works with language.
Suggested visual direction: Simple flow diagram: prompt in → AI model → answer out.
Speaker notes: Explain that LLMs are behind many chatbots. They are especially good at reading and writing text, but they still need context and clear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title: The Big Rule
Key message: Clearer instructions usually lead to better responses.
Suggested visual direction: Big bold text-only slide: vague prompt = vague answer; clear prompt = useful answer.
Speaker notes: Make this the memorable rule. Pause on it. If students remember one thing, it is that improving the prompt usually improves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title: The GCSE prompt framework
Key message: GCSE is a simple structure students can remember and reuse.
Suggested visual direction: Large GCSE acronym with one-line definitions under each letter.
Speaker notes: Explain each letter quickly. Goal: task. Context: background. Specifics: detail. Constraints: limits and format. Evaluate: ask it to check or improve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title: Basic prompting
Key message: Basic prompting means asking clearly.
Suggested visual direction: Simple chat-bubble prompt with a side note showing what AI still has to guess.
Speaker notes: Explain that this is fine and often useful, but it gives limited information. If the answer is not quite right, you probably need to add more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Slide title: Intermediate prompting</a:t>
            </a:r>
          </a:p>
          <a:p>
            <a:endParaRPr lang="en-GB"/>
          </a:p>
          <a:p>
            <a:r>
              <a:rPr lang="en-GB"/>
              <a:t>Key message: The upgraded prompt is stronger because it uses the GCSE framework: Goal, Context, Specifics, Constraints and Evaluate.</a:t>
            </a:r>
          </a:p>
          <a:p>
            <a:endParaRPr lang="en-GB"/>
          </a:p>
          <a:p>
            <a:r>
              <a:rPr lang="en-GB"/>
              <a:t>Talk track:</a:t>
            </a:r>
          </a:p>
          <a:p>
            <a:r>
              <a:rPr lang="en-GB"/>
              <a:t>The starting prompt only gives a broad topic: “Explain photosynthesis.” The upgraded prompt adds the missing GCSE pieces.</a:t>
            </a:r>
          </a:p>
          <a:p>
            <a:endParaRPr lang="en-GB"/>
          </a:p>
          <a:p>
            <a:r>
              <a:rPr lang="en-GB"/>
              <a:t>G — Goal: create a GCSE revision summary about photosynthesis.</a:t>
            </a:r>
          </a:p>
          <a:p>
            <a:r>
              <a:rPr lang="en-GB"/>
              <a:t>C — Context: write it for a 16-year-old Biology student.</a:t>
            </a:r>
          </a:p>
          <a:p>
            <a:r>
              <a:rPr lang="en-GB"/>
              <a:t>S — Specifics: include inputs, outputs and why it matters.</a:t>
            </a:r>
          </a:p>
          <a:p>
            <a:r>
              <a:rPr lang="en-GB"/>
              <a:t>C — Constraints: use simple language, bullet points and a maximum of 150 words.</a:t>
            </a:r>
          </a:p>
          <a:p>
            <a:r>
              <a:rPr lang="en-GB"/>
              <a:t>E — Evaluate: finish with one quiz question so the student can check understanding.</a:t>
            </a:r>
          </a:p>
          <a:p>
            <a:endParaRPr lang="en-GB"/>
          </a:p>
          <a:p>
            <a:r>
              <a:rPr lang="en-GB"/>
              <a:t>This makes the response more useful because the AI knows the task, the learner, the required content, the format limits and how to help the learner reflect.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title: Advanced prompting
Key message: Advanced prompting gives the AI a role and a process.
Suggested visual direction: AI tutor/coach visual with a prompt example and three process labels.
Speaker notes: Explain that advanced prompting is not about fancy words. It is about designing the support you need: role, steps, questions, feedback and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title: Different prompts for different jobs
Key message: The best prompt depends on the task.
Suggested visual direction: Five task labels around a central “task first” hub.
Speaker notes: Explain there is no single magic prompt. You change the prompt depending on whether you want revision help, image ideas, a presentation, creative writing or career advice.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title: Prompting for images
Key message: Image prompts need visual details: subject, style, mood, details and format.
Suggested visual direction: Camera icon with a simple image prompt recipe.
Speaker notes: Explain that image generators need visual detail. Think like a director: what should the camera see, what style should it be, what mood, what colours and what shape?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title: Prompting for PowerPoint
Key message: For slide decks, give a full brief: audience, objective, structure, tone and output format.
Suggested visual direction: Vague topic prompt versus a storyboard-style presentation brief.
Speaker notes: Explain how the prompt for this very session worked: it gave the audience, timing, objective, tone, structure and requirements for each slide. That is why the output can be much more useful.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title: The human still matters
Key message: AI should help your thinking, not replace it.
Suggested visual direction: Human and AI working together with three responsible-use checkpoints.
Speaker notes: Introduce responsible AI briefly: check important facts, avoid sharing private information, and do not copy blindly. AI is a draft partner, not an autopilot.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title: Three prompting levels
Key message: Students can build confidence from basic to intermediate to advanced prompting.
Suggested visual direction: Three-level ladder/progress path: Basic → Intermediate → Advanced.
Speaker notes: Reinforce confidence. They do not need to jump to advanced immediately. Start basic, then add context and format, then add role and process when they want more structured help.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title: Before you press Enter…
Key message: Use the GCSE checklist before sending a prompt.
Suggested visual direction: Large checklist with Goal, Context, Specifics, Constraints and Evaluate.
Speaker notes: Close the mini-keynote by encouraging students to use the GCSE checklist. Remind them: if the AI answer is weak, the next move is to improve the prompt. Then transition into the workshop.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title: Workshop Challenge: Fix the Prompt
Key message: Students practise improving a weak prompt using GCSE.
Suggested visual direction: Workshop instruction slide showing the weak prompt and GCSE improvement checklist.
Speaker notes: Give students the weak prompt “Help me revise history.” Ask them to improve it using Goal, Context, Specifics, Constraints and Evaluate. If needed, model one example: revise causes of World War One, GCSE History, simple bullets, memory trick, five quiz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7063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AI command centre background"/>
          <p:cNvPicPr>
            <a:picLocks noChangeAspect="1"/>
          </p:cNvPicPr>
          <p:nvPr/>
        </p:nvPicPr>
        <p:blipFill>
          <a:blip r:embed="rId3">
            <a:alphaModFix amt="66000"/>
          </a:blip>
          <a:srcRect t="9111" b="911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4E6">
              <a:alpha val="81000"/>
            </a:srgbClr>
          </a:solidFill>
          <a:ln w="12700">
            <a:solidFill>
              <a:srgbClr val="FFF4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1069848" y="932688"/>
            <a:ext cx="960120" cy="0"/>
          </a:xfrm>
          <a:prstGeom prst="line">
            <a:avLst/>
          </a:prstGeom>
          <a:noFill/>
          <a:ln w="76200">
            <a:solidFill>
              <a:srgbClr val="FF63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2148840" y="932688"/>
            <a:ext cx="548640" cy="0"/>
          </a:xfrm>
          <a:prstGeom prst="line">
            <a:avLst/>
          </a:prstGeom>
          <a:noFill/>
          <a:ln w="762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1051560" y="117043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7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George Sofroniou, Vice President, Learning &amp; Growth @ Nomura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24128" y="1600200"/>
            <a:ext cx="7955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0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Make</a:t>
            </a:r>
            <a:endParaRPr lang="en-US" sz="5000" dirty="0"/>
          </a:p>
          <a:p>
            <a:pPr marL="0" indent="0">
              <a:buNone/>
            </a:pPr>
            <a:r>
              <a:rPr lang="en-US" sz="50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Actually Useful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1078992" y="3950208"/>
            <a:ext cx="6492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5160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cheat code for getting better answers, ideas and help from AI</a:t>
            </a:r>
            <a:endParaRPr lang="en-US" sz="2000" dirty="0"/>
          </a:p>
        </p:txBody>
      </p:sp>
      <p:sp>
        <p:nvSpPr>
          <p:cNvPr id="9" name="Shape 6" hidden="1"/>
          <p:cNvSpPr/>
          <p:nvPr/>
        </p:nvSpPr>
        <p:spPr>
          <a:xfrm>
            <a:off x="8549640" y="4251960"/>
            <a:ext cx="242316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FF6363"/>
            </a:solidFill>
            <a:prstDash val="solid"/>
          </a:ln>
          <a:effectLst>
            <a:outerShdw blurRad="15240" dist="762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7" hidden="1"/>
          <p:cNvSpPr/>
          <p:nvPr/>
        </p:nvSpPr>
        <p:spPr>
          <a:xfrm>
            <a:off x="8778240" y="4489704"/>
            <a:ext cx="196596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better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get better</a:t>
            </a:r>
            <a:endParaRPr lang="en-US" sz="2000" dirty="0"/>
          </a:p>
        </p:txBody>
      </p:sp>
      <p:sp>
        <p:nvSpPr>
          <p:cNvPr id="11" name="Text 8" hidden="1"/>
          <p:cNvSpPr/>
          <p:nvPr/>
        </p:nvSpPr>
        <p:spPr>
          <a:xfrm>
            <a:off x="1078992" y="623620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160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Experience students · Ages 16–19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E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374904"/>
            <a:ext cx="411480" cy="32004"/>
          </a:xfrm>
          <a:prstGeom prst="rect">
            <a:avLst/>
          </a:prstGeom>
          <a:solidFill>
            <a:srgbClr val="2478FF"/>
          </a:solidFill>
          <a:ln>
            <a:solidFill>
              <a:srgbClr val="24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424160" y="256032"/>
            <a:ext cx="1005840" cy="32004"/>
          </a:xfrm>
          <a:prstGeom prst="rect">
            <a:avLst/>
          </a:prstGeom>
          <a:solidFill>
            <a:srgbClr val="FF6363"/>
          </a:solidFill>
          <a:ln>
            <a:solidFill>
              <a:srgbClr val="FF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064240" y="502920"/>
            <a:ext cx="502920" cy="32004"/>
          </a:xfrm>
          <a:prstGeom prst="rect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" y="301752"/>
            <a:ext cx="530352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478FF"/>
                </a:solidFill>
                <a:latin typeface="Aptos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7315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800" b="1" dirty="0">
                <a:solidFill>
                  <a:srgbClr val="182438"/>
                </a:solidFill>
                <a:latin typeface="Aptos Display"/>
              </a:rPr>
              <a:t>A quick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71600"/>
            <a:ext cx="868680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100" b="0" dirty="0">
                <a:solidFill>
                  <a:srgbClr val="526376"/>
                </a:solidFill>
                <a:latin typeface="Aptos"/>
              </a:rPr>
              <a:t>A little context before we start prompting.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473952"/>
            <a:ext cx="9692640" cy="16459"/>
          </a:xfrm>
          <a:prstGeom prst="rect">
            <a:avLst/>
          </a:prstGeom>
          <a:solidFill>
            <a:srgbClr val="182438"/>
          </a:solidFill>
          <a:ln>
            <a:solidFill>
              <a:srgbClr val="18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6592824"/>
            <a:ext cx="347472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182438"/>
                </a:solidFill>
                <a:latin typeface="Aptos"/>
              </a:rPr>
              <a:t>AI Prompting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74536"/>
            <a:ext cx="6400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r"/>
            <a:r>
              <a:rPr sz="1000">
                <a:solidFill>
                  <a:srgbClr val="182438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98698"/>
            <a:ext cx="550164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en-GB" sz="2400" b="1" dirty="0">
                <a:solidFill>
                  <a:srgbClr val="182438"/>
                </a:solidFill>
                <a:latin typeface="Aptos Display"/>
              </a:rPr>
              <a:t>George Sofroniou</a:t>
            </a:r>
            <a:endParaRPr sz="2400" b="1" dirty="0">
              <a:solidFill>
                <a:srgbClr val="182438"/>
              </a:solidFill>
              <a:latin typeface="Aptos Display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4360" y="3691890"/>
            <a:ext cx="550164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en-GB" sz="1600" b="0" dirty="0">
                <a:solidFill>
                  <a:srgbClr val="526376"/>
                </a:solidFill>
                <a:latin typeface="Aptos"/>
              </a:rPr>
              <a:t>Vice President @ Nomura, Learning &amp; Growth</a:t>
            </a:r>
            <a:endParaRPr sz="1600" b="0" dirty="0">
              <a:solidFill>
                <a:srgbClr val="526376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00544" y="6014022"/>
            <a:ext cx="4995456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>
              <a:spcAft>
                <a:spcPts val="0"/>
              </a:spcAft>
            </a:pPr>
            <a:r>
              <a:rPr lang="en-GB" sz="1500" b="1" dirty="0">
                <a:solidFill>
                  <a:srgbClr val="0A66C2"/>
                </a:solidFill>
                <a:latin typeface="Aptos"/>
              </a:rPr>
              <a:t>linkedin.com/in/</a:t>
            </a:r>
            <a:r>
              <a:rPr lang="en-GB" sz="1500" b="1" dirty="0" err="1">
                <a:solidFill>
                  <a:srgbClr val="0A66C2"/>
                </a:solidFill>
                <a:latin typeface="Aptos"/>
              </a:rPr>
              <a:t>georgesofroniou</a:t>
            </a:r>
            <a:endParaRPr sz="1500" b="1" dirty="0">
              <a:solidFill>
                <a:srgbClr val="0A66C2"/>
              </a:solidFill>
              <a:latin typeface="Aptos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4130772-5E09-D44B-7966-8490F42481C3}"/>
              </a:ext>
            </a:extLst>
          </p:cNvPr>
          <p:cNvGrpSpPr/>
          <p:nvPr/>
        </p:nvGrpSpPr>
        <p:grpSpPr>
          <a:xfrm>
            <a:off x="6216444" y="1810512"/>
            <a:ext cx="5350715" cy="365760"/>
            <a:chOff x="4791456" y="1810512"/>
            <a:chExt cx="6263639" cy="365760"/>
          </a:xfrm>
        </p:grpSpPr>
        <p:sp>
          <p:nvSpPr>
            <p:cNvPr id="17" name="Rectangle 16"/>
            <p:cNvSpPr/>
            <p:nvPr/>
          </p:nvSpPr>
          <p:spPr>
            <a:xfrm>
              <a:off x="4791456" y="1938528"/>
              <a:ext cx="640080" cy="32004"/>
            </a:xfrm>
            <a:prstGeom prst="rect">
              <a:avLst/>
            </a:prstGeom>
            <a:solidFill>
              <a:srgbClr val="2478FF"/>
            </a:solidFill>
            <a:ln>
              <a:solidFill>
                <a:srgbClr val="2478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678128" y="1810512"/>
              <a:ext cx="5376967" cy="365760"/>
            </a:xfrm>
            <a:prstGeom prst="rect">
              <a:avLst/>
            </a:prstGeom>
            <a:noFill/>
          </p:spPr>
          <p:txBody>
            <a:bodyPr wrap="square" lIns="27432" tIns="18288" rIns="27432" bIns="18288" anchor="t"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sz="2600" b="1" dirty="0">
                  <a:solidFill>
                    <a:srgbClr val="182438"/>
                  </a:solidFill>
                  <a:latin typeface="Aptos Display"/>
                </a:rPr>
                <a:t>About me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6216444" y="2440750"/>
            <a:ext cx="5350716" cy="37687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marL="91440" algn="l">
              <a:spcAft>
                <a:spcPts val="900"/>
              </a:spcAft>
            </a:pPr>
            <a:r>
              <a:rPr sz="1800" b="1" dirty="0">
                <a:solidFill>
                  <a:srgbClr val="516071"/>
                </a:solidFill>
                <a:latin typeface="Aptos"/>
              </a:rPr>
              <a:t>What I do</a:t>
            </a:r>
            <a:endParaRPr lang="en-GB" sz="1800" b="1" dirty="0">
              <a:solidFill>
                <a:srgbClr val="516071"/>
              </a:solidFill>
              <a:latin typeface="Aptos"/>
            </a:endParaRPr>
          </a:p>
          <a:p>
            <a:pPr marL="230400" algn="l">
              <a:spcAft>
                <a:spcPts val="900"/>
              </a:spcAft>
            </a:pPr>
            <a:r>
              <a:rPr lang="en-GB" sz="1600" dirty="0">
                <a:solidFill>
                  <a:srgbClr val="516071"/>
                </a:solidFill>
                <a:latin typeface="Aptos"/>
              </a:rPr>
              <a:t>Product Manager in the Nomura’s Learning &amp; Growth team.</a:t>
            </a:r>
            <a:endParaRPr sz="1600" dirty="0">
              <a:solidFill>
                <a:srgbClr val="516071"/>
              </a:solidFill>
              <a:latin typeface="Aptos"/>
            </a:endParaRPr>
          </a:p>
          <a:p>
            <a:pPr marL="91440">
              <a:spcAft>
                <a:spcPts val="900"/>
              </a:spcAft>
            </a:pPr>
            <a:r>
              <a:rPr sz="1800" b="1" dirty="0">
                <a:solidFill>
                  <a:srgbClr val="516071"/>
                </a:solidFill>
                <a:latin typeface="Aptos"/>
              </a:rPr>
              <a:t>Why AI prompting matters to me</a:t>
            </a:r>
            <a:endParaRPr lang="en-GB" b="1" dirty="0">
              <a:solidFill>
                <a:srgbClr val="516071"/>
              </a:solidFill>
            </a:endParaRPr>
          </a:p>
          <a:p>
            <a:pPr marL="230400">
              <a:spcAft>
                <a:spcPts val="900"/>
              </a:spcAft>
            </a:pPr>
            <a:r>
              <a:rPr lang="en-GB" sz="1600" dirty="0">
                <a:solidFill>
                  <a:srgbClr val="516071"/>
                </a:solidFill>
              </a:rPr>
              <a:t>It provides me a thinking partner, which helps me explain my ideas to varied audiences.</a:t>
            </a:r>
            <a:endParaRPr sz="1600" b="1" dirty="0">
              <a:solidFill>
                <a:srgbClr val="516071"/>
              </a:solidFill>
              <a:latin typeface="Aptos"/>
            </a:endParaRPr>
          </a:p>
          <a:p>
            <a:pPr marL="91440">
              <a:spcAft>
                <a:spcPts val="900"/>
              </a:spcAft>
            </a:pPr>
            <a:r>
              <a:rPr sz="1800" b="1" dirty="0">
                <a:solidFill>
                  <a:srgbClr val="516071"/>
                </a:solidFill>
                <a:latin typeface="Aptos"/>
              </a:rPr>
              <a:t>One relevant lesson learned</a:t>
            </a:r>
            <a:endParaRPr lang="en-GB" b="1" dirty="0">
              <a:solidFill>
                <a:srgbClr val="516071"/>
              </a:solidFill>
            </a:endParaRPr>
          </a:p>
          <a:p>
            <a:pPr marL="230400">
              <a:spcAft>
                <a:spcPts val="900"/>
              </a:spcAft>
            </a:pPr>
            <a:r>
              <a:rPr lang="en-GB" sz="1600" dirty="0">
                <a:solidFill>
                  <a:srgbClr val="516071"/>
                </a:solidFill>
              </a:rPr>
              <a:t>AI works best when you give it context, examples and constraints. Rubbish in ≠ Best answer.</a:t>
            </a:r>
            <a:endParaRPr sz="1600" b="1" dirty="0">
              <a:solidFill>
                <a:srgbClr val="516071"/>
              </a:solidFill>
              <a:latin typeface="Aptos"/>
            </a:endParaRPr>
          </a:p>
          <a:p>
            <a:pPr marL="91440">
              <a:spcAft>
                <a:spcPts val="900"/>
              </a:spcAft>
            </a:pPr>
            <a:r>
              <a:rPr sz="1800" b="1" dirty="0">
                <a:solidFill>
                  <a:srgbClr val="516071"/>
                </a:solidFill>
                <a:latin typeface="Aptos"/>
              </a:rPr>
              <a:t>What you can ask me about today</a:t>
            </a:r>
            <a:endParaRPr lang="en-GB" b="1" dirty="0">
              <a:solidFill>
                <a:srgbClr val="516071"/>
              </a:solidFill>
            </a:endParaRPr>
          </a:p>
          <a:p>
            <a:pPr marL="230400">
              <a:spcAft>
                <a:spcPts val="900"/>
              </a:spcAft>
            </a:pPr>
            <a:r>
              <a:rPr lang="en-GB" sz="1600" dirty="0">
                <a:solidFill>
                  <a:srgbClr val="516071"/>
                </a:solidFill>
              </a:rPr>
              <a:t>Careers, Tech/AI, Football, Golf and...</a:t>
            </a:r>
            <a:endParaRPr sz="1600" b="1" dirty="0">
              <a:solidFill>
                <a:srgbClr val="516071"/>
              </a:solidFill>
              <a:latin typeface="Aptos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B5B712F-E085-5A77-DCC7-D955CB9D68B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61" b="99544" l="1563" r="99121">
                        <a14:foregroundMark x1="7324" y1="63216" x2="11719" y2="90169"/>
                        <a14:foregroundMark x1="11719" y1="90169" x2="53613" y2="97331"/>
                        <a14:foregroundMark x1="53613" y1="97331" x2="79688" y2="95313"/>
                        <a14:foregroundMark x1="79688" y1="95313" x2="93848" y2="84896"/>
                        <a14:foregroundMark x1="93848" y1="84896" x2="97168" y2="65365"/>
                        <a14:foregroundMark x1="1660" y1="68815" x2="3320" y2="98177"/>
                        <a14:foregroundMark x1="97949" y1="87500" x2="99121" y2="99544"/>
                      </a14:backgroundRemoval>
                    </a14:imgEffect>
                  </a14:imgLayer>
                </a14:imgProps>
              </a:ext>
            </a:extLst>
          </a:blip>
          <a:srcRect l="1478" t="-1" r="1478" b="35306"/>
          <a:stretch>
            <a:fillRect/>
          </a:stretch>
        </p:blipFill>
        <p:spPr>
          <a:xfrm>
            <a:off x="2715180" y="1931041"/>
            <a:ext cx="1260000" cy="1260000"/>
          </a:xfrm>
          <a:prstGeom prst="ellipse">
            <a:avLst/>
          </a:prstGeom>
          <a:solidFill>
            <a:srgbClr val="EBF3FF"/>
          </a:solidFill>
          <a:ln w="76200">
            <a:solidFill>
              <a:srgbClr val="2478FF"/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F5EEF28-7633-6681-8F00-784F523D925D}"/>
              </a:ext>
            </a:extLst>
          </p:cNvPr>
          <p:cNvSpPr txBox="1"/>
          <p:nvPr/>
        </p:nvSpPr>
        <p:spPr>
          <a:xfrm>
            <a:off x="594360" y="4175679"/>
            <a:ext cx="5501640" cy="162172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400" b="1" dirty="0">
                <a:solidFill>
                  <a:srgbClr val="526376"/>
                </a:solidFill>
                <a:latin typeface="Aptos"/>
              </a:rPr>
              <a:t>2010 – 2014:</a:t>
            </a:r>
            <a:r>
              <a:rPr lang="en-GB" sz="1400" b="0" dirty="0">
                <a:solidFill>
                  <a:srgbClr val="526376"/>
                </a:solidFill>
                <a:latin typeface="Aptos"/>
              </a:rPr>
              <a:t> Loughborough University, IT Management for Business</a:t>
            </a:r>
          </a:p>
          <a:p>
            <a:pPr>
              <a:lnSpc>
                <a:spcPct val="150000"/>
              </a:lnSpc>
            </a:pPr>
            <a:r>
              <a:rPr lang="en-GB" sz="1400" b="1" dirty="0">
                <a:solidFill>
                  <a:srgbClr val="526376"/>
                </a:solidFill>
              </a:rPr>
              <a:t>2011 – 2012:</a:t>
            </a:r>
            <a:r>
              <a:rPr lang="en-GB" sz="1400" dirty="0">
                <a:solidFill>
                  <a:srgbClr val="526376"/>
                </a:solidFill>
              </a:rPr>
              <a:t> Placement year at GlaxoSmithKline in Technology</a:t>
            </a:r>
          </a:p>
          <a:p>
            <a:pPr>
              <a:lnSpc>
                <a:spcPct val="150000"/>
              </a:lnSpc>
            </a:pPr>
            <a:r>
              <a:rPr lang="en-GB" sz="1400" b="1" dirty="0">
                <a:solidFill>
                  <a:srgbClr val="526376"/>
                </a:solidFill>
              </a:rPr>
              <a:t>Early 2015:</a:t>
            </a:r>
            <a:r>
              <a:rPr lang="en-GB" sz="1400" dirty="0">
                <a:solidFill>
                  <a:srgbClr val="526376"/>
                </a:solidFill>
              </a:rPr>
              <a:t> User Interface Design Internship at </a:t>
            </a:r>
            <a:r>
              <a:rPr lang="en-GB" sz="1400" dirty="0" err="1">
                <a:solidFill>
                  <a:srgbClr val="526376"/>
                </a:solidFill>
              </a:rPr>
              <a:t>Pirean</a:t>
            </a:r>
            <a:endParaRPr lang="en-GB" sz="1400" dirty="0">
              <a:solidFill>
                <a:srgbClr val="526376"/>
              </a:solidFill>
            </a:endParaRPr>
          </a:p>
          <a:p>
            <a:pPr>
              <a:lnSpc>
                <a:spcPct val="150000"/>
              </a:lnSpc>
            </a:pPr>
            <a:r>
              <a:rPr lang="en-GB" sz="1400" b="1" dirty="0">
                <a:solidFill>
                  <a:srgbClr val="526376"/>
                </a:solidFill>
              </a:rPr>
              <a:t>Summer 2015 – Today:</a:t>
            </a:r>
            <a:r>
              <a:rPr lang="en-GB" sz="1400" dirty="0">
                <a:solidFill>
                  <a:srgbClr val="526376"/>
                </a:solidFill>
              </a:rPr>
              <a:t> My career at Nomura (made up of many different roles)</a:t>
            </a:r>
            <a:endParaRPr sz="1400" b="0" dirty="0">
              <a:solidFill>
                <a:srgbClr val="526376"/>
              </a:solidFill>
              <a:latin typeface="Aptos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DBE1AF1-8FF6-F7D9-E29B-0A7C90ECD4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100" y="5988587"/>
            <a:ext cx="360000" cy="306900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E1C7BEC0-126B-F136-A177-36B60764769F}"/>
              </a:ext>
            </a:extLst>
          </p:cNvPr>
          <p:cNvGrpSpPr>
            <a:grpSpLocks noChangeAspect="1"/>
          </p:cNvGrpSpPr>
          <p:nvPr/>
        </p:nvGrpSpPr>
        <p:grpSpPr>
          <a:xfrm>
            <a:off x="-2302420" y="1841041"/>
            <a:ext cx="1440000" cy="1440000"/>
            <a:chOff x="2694168" y="1841041"/>
            <a:chExt cx="1279718" cy="1279718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9E1D8FD-D438-C855-06FC-CEB847CEB324}"/>
                </a:ext>
              </a:extLst>
            </p:cNvPr>
            <p:cNvSpPr/>
            <p:nvPr/>
          </p:nvSpPr>
          <p:spPr>
            <a:xfrm>
              <a:off x="2694168" y="1841041"/>
              <a:ext cx="1279718" cy="1279718"/>
            </a:xfrm>
            <a:prstGeom prst="ellipse">
              <a:avLst/>
            </a:prstGeom>
            <a:solidFill>
              <a:srgbClr val="030A0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EF56F79E-3CB5-965A-31F9-326264D328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9961" b="99544" l="1563" r="99121">
                          <a14:foregroundMark x1="7324" y1="63216" x2="11719" y2="90169"/>
                          <a14:foregroundMark x1="11719" y1="90169" x2="53613" y2="97331"/>
                          <a14:foregroundMark x1="53613" y1="97331" x2="79688" y2="95313"/>
                          <a14:foregroundMark x1="79688" y1="95313" x2="93848" y2="84896"/>
                          <a14:foregroundMark x1="93848" y1="84896" x2="97168" y2="65365"/>
                          <a14:foregroundMark x1="1660" y1="68815" x2="3320" y2="98177"/>
                          <a14:foregroundMark x1="97949" y1="87500" x2="99121" y2="99544"/>
                        </a14:backgroundRemoval>
                      </a14:imgEffect>
                    </a14:imgLayer>
                  </a14:imgProps>
                </a:ext>
              </a:extLst>
            </a:blip>
            <a:srcRect l="1478" t="-1" r="1478" b="35306"/>
            <a:stretch>
              <a:fillRect/>
            </a:stretch>
          </p:blipFill>
          <p:spPr>
            <a:xfrm>
              <a:off x="2816571" y="1892008"/>
              <a:ext cx="1010736" cy="1010736"/>
            </a:xfrm>
            <a:prstGeom prst="ellipse">
              <a:avLst/>
            </a:prstGeom>
            <a:noFill/>
            <a:ln w="76200">
              <a:noFill/>
            </a:ln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FE57D7F1-DEBE-7A8F-9710-9715B4F6D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-5639" b="5639"/>
            <a:stretch>
              <a:fillRect/>
            </a:stretch>
          </p:blipFill>
          <p:spPr>
            <a:xfrm>
              <a:off x="2704027" y="1850900"/>
              <a:ext cx="1260000" cy="1260000"/>
            </a:xfrm>
            <a:prstGeom prst="ellipse">
              <a:avLst/>
            </a:prstGeom>
            <a:noFill/>
            <a:ln w="76200"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30F336-1CE9-B70E-C33F-8FB364E42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Oval 40"/>
          <p:cNvSpPr/>
          <p:nvPr/>
        </p:nvSpPr>
        <p:spPr>
          <a:xfrm>
            <a:off x="0" y="4901184"/>
            <a:ext cx="2240280" cy="1874519"/>
          </a:xfrm>
          <a:prstGeom prst="ellipse">
            <a:avLst/>
          </a:prstGeom>
          <a:solidFill>
            <a:srgbClr val="0D3032"/>
          </a:solidFill>
          <a:ln>
            <a:solidFill>
              <a:srgbClr val="0D3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623560" y="1572768"/>
            <a:ext cx="5806440" cy="4553712"/>
          </a:xfrm>
          <a:prstGeom prst="ellipse">
            <a:avLst/>
          </a:prstGeom>
          <a:solidFill>
            <a:srgbClr val="091E21"/>
          </a:solidFill>
          <a:ln>
            <a:solidFill>
              <a:srgbClr val="091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2103120" y="1463040"/>
            <a:ext cx="2468880" cy="2468880"/>
          </a:xfrm>
          <a:prstGeom prst="ellipse">
            <a:avLst/>
          </a:prstGeom>
          <a:solidFill>
            <a:srgbClr val="0D3032"/>
          </a:solidFill>
          <a:ln>
            <a:solidFill>
              <a:srgbClr val="0D3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A24337-42E8-2097-85CA-29FC258D17F4}"/>
              </a:ext>
            </a:extLst>
          </p:cNvPr>
          <p:cNvSpPr/>
          <p:nvPr/>
        </p:nvSpPr>
        <p:spPr>
          <a:xfrm>
            <a:off x="594360" y="374904"/>
            <a:ext cx="411480" cy="32004"/>
          </a:xfrm>
          <a:prstGeom prst="rect">
            <a:avLst/>
          </a:prstGeom>
          <a:solidFill>
            <a:srgbClr val="E1AE47"/>
          </a:solidFill>
          <a:ln>
            <a:solidFill>
              <a:srgbClr val="E1A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7AA78C-097F-A2BF-BA20-3D8CA45150D9}"/>
              </a:ext>
            </a:extLst>
          </p:cNvPr>
          <p:cNvSpPr/>
          <p:nvPr/>
        </p:nvSpPr>
        <p:spPr>
          <a:xfrm>
            <a:off x="10424160" y="256032"/>
            <a:ext cx="1005840" cy="32004"/>
          </a:xfrm>
          <a:prstGeom prst="rect">
            <a:avLst/>
          </a:prstGeom>
          <a:solidFill>
            <a:srgbClr val="BE3B41"/>
          </a:solidFill>
          <a:ln>
            <a:solidFill>
              <a:srgbClr val="BE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4D8AD1-A29F-1453-0B7A-CD92398D5154}"/>
              </a:ext>
            </a:extLst>
          </p:cNvPr>
          <p:cNvSpPr/>
          <p:nvPr/>
        </p:nvSpPr>
        <p:spPr>
          <a:xfrm>
            <a:off x="11064240" y="502920"/>
            <a:ext cx="502920" cy="32004"/>
          </a:xfrm>
          <a:prstGeom prst="rect">
            <a:avLst/>
          </a:prstGeom>
          <a:solidFill>
            <a:srgbClr val="E1AE47"/>
          </a:solidFill>
          <a:ln>
            <a:solidFill>
              <a:srgbClr val="E1A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2F3679-1C4A-EFB9-7714-E23A02F00DB3}"/>
              </a:ext>
            </a:extLst>
          </p:cNvPr>
          <p:cNvSpPr txBox="1"/>
          <p:nvPr/>
        </p:nvSpPr>
        <p:spPr>
          <a:xfrm>
            <a:off x="1106424" y="301752"/>
            <a:ext cx="530352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r>
              <a:rPr lang="en-GB" sz="1320" b="1">
                <a:solidFill>
                  <a:srgbClr val="E1AE47"/>
                </a:solidFill>
                <a:latin typeface="Aptos"/>
              </a:rPr>
              <a:t>INTRODUCTION · TRAITORS EDITION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723F4A-91C9-959A-E63B-A10F7D69DFC7}"/>
              </a:ext>
            </a:extLst>
          </p:cNvPr>
          <p:cNvSpPr txBox="1"/>
          <p:nvPr/>
        </p:nvSpPr>
        <p:spPr>
          <a:xfrm>
            <a:off x="594360" y="621792"/>
            <a:ext cx="10881360" cy="7315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GB" sz="3800" b="1">
                <a:solidFill>
                  <a:srgbClr val="FAEFE0"/>
                </a:solidFill>
                <a:latin typeface="Aptos Display"/>
              </a:rPr>
              <a:t>A quick 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312EC6-68A7-8427-5652-0244F2C2FC27}"/>
              </a:ext>
            </a:extLst>
          </p:cNvPr>
          <p:cNvSpPr txBox="1"/>
          <p:nvPr/>
        </p:nvSpPr>
        <p:spPr>
          <a:xfrm>
            <a:off x="621792" y="1371600"/>
            <a:ext cx="868680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r>
              <a:rPr lang="en-GB" sz="2050" b="0" dirty="0">
                <a:solidFill>
                  <a:srgbClr val="FF6363"/>
                </a:solidFill>
                <a:latin typeface="Aptos"/>
              </a:rPr>
              <a:t>A little context before we start with the roundtable discussion.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F87D98-D529-BC60-E12A-1855AC2DD04B}"/>
              </a:ext>
            </a:extLst>
          </p:cNvPr>
          <p:cNvSpPr/>
          <p:nvPr/>
        </p:nvSpPr>
        <p:spPr>
          <a:xfrm>
            <a:off x="594360" y="6473952"/>
            <a:ext cx="9692640" cy="16459"/>
          </a:xfrm>
          <a:prstGeom prst="rect">
            <a:avLst/>
          </a:prstGeom>
          <a:solidFill>
            <a:srgbClr val="E1AE47"/>
          </a:solidFill>
          <a:ln>
            <a:solidFill>
              <a:srgbClr val="E1A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A6B0CF-1C4B-8B3B-8B54-0BC0FA846ED8}"/>
              </a:ext>
            </a:extLst>
          </p:cNvPr>
          <p:cNvSpPr txBox="1"/>
          <p:nvPr/>
        </p:nvSpPr>
        <p:spPr>
          <a:xfrm>
            <a:off x="594360" y="6592824"/>
            <a:ext cx="347472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GB" sz="850" b="0" dirty="0">
                <a:solidFill>
                  <a:srgbClr val="EDDAB8"/>
                </a:solidFill>
                <a:latin typeface="Aptos"/>
              </a:rPr>
              <a:t>Roundtable Ready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86929D-64FC-6302-9931-76A8A5DAB6F3}"/>
              </a:ext>
            </a:extLst>
          </p:cNvPr>
          <p:cNvSpPr txBox="1"/>
          <p:nvPr/>
        </p:nvSpPr>
        <p:spPr>
          <a:xfrm>
            <a:off x="10972800" y="6574536"/>
            <a:ext cx="6400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r"/>
            <a:r>
              <a:rPr lang="en-GB" sz="1000" b="0">
                <a:solidFill>
                  <a:srgbClr val="EDDAB8"/>
                </a:solidFill>
                <a:latin typeface="Aptos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BED77E-A154-A1B0-D2AE-B6F295700CD9}"/>
              </a:ext>
            </a:extLst>
          </p:cNvPr>
          <p:cNvSpPr txBox="1"/>
          <p:nvPr/>
        </p:nvSpPr>
        <p:spPr>
          <a:xfrm>
            <a:off x="594360" y="3298698"/>
            <a:ext cx="550164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en-GB" sz="2200" b="1" dirty="0">
                <a:solidFill>
                  <a:srgbClr val="E1AE47"/>
                </a:solidFill>
                <a:latin typeface="Aptos Display"/>
              </a:rPr>
              <a:t>George Sofroniou</a:t>
            </a:r>
            <a:endParaRPr sz="2400" b="1" dirty="0">
              <a:solidFill>
                <a:srgbClr val="182438"/>
              </a:solidFill>
              <a:latin typeface="Aptos Display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88AA61-064C-4D7A-C9E2-DFC59FBFEFDD}"/>
              </a:ext>
            </a:extLst>
          </p:cNvPr>
          <p:cNvSpPr txBox="1"/>
          <p:nvPr/>
        </p:nvSpPr>
        <p:spPr>
          <a:xfrm>
            <a:off x="594360" y="3691890"/>
            <a:ext cx="550164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en-GB" sz="1550" b="0">
                <a:solidFill>
                  <a:srgbClr val="EDDAB8"/>
                </a:solidFill>
                <a:latin typeface="Aptos"/>
              </a:rPr>
              <a:t>Vice President @ Nomura, Learning &amp; Growth</a:t>
            </a:r>
            <a:endParaRPr sz="1600" b="0" dirty="0">
              <a:solidFill>
                <a:srgbClr val="526376"/>
              </a:solidFill>
              <a:latin typeface="Aptos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BB0E9E6-5AC2-B979-D6E3-22386BAFAC5C}"/>
              </a:ext>
            </a:extLst>
          </p:cNvPr>
          <p:cNvGrpSpPr/>
          <p:nvPr/>
        </p:nvGrpSpPr>
        <p:grpSpPr>
          <a:xfrm>
            <a:off x="6216440" y="1810512"/>
            <a:ext cx="5350710" cy="365760"/>
            <a:chOff x="4791456" y="1810512"/>
            <a:chExt cx="6263639" cy="36576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93ABB11-27A7-A2A5-103A-9DC7D4D9BEA8}"/>
                </a:ext>
              </a:extLst>
            </p:cNvPr>
            <p:cNvSpPr/>
            <p:nvPr/>
          </p:nvSpPr>
          <p:spPr>
            <a:xfrm>
              <a:off x="4791456" y="1938528"/>
              <a:ext cx="640080" cy="32004"/>
            </a:xfrm>
            <a:prstGeom prst="rect">
              <a:avLst/>
            </a:prstGeom>
            <a:solidFill>
              <a:srgbClr val="FF6363"/>
            </a:solidFill>
            <a:ln>
              <a:solidFill>
                <a:srgbClr val="FF636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53DCABE-E7BC-F11C-D6E8-68D6CED20E7E}"/>
                </a:ext>
              </a:extLst>
            </p:cNvPr>
            <p:cNvSpPr txBox="1"/>
            <p:nvPr/>
          </p:nvSpPr>
          <p:spPr>
            <a:xfrm>
              <a:off x="5678128" y="1810512"/>
              <a:ext cx="5376967" cy="365760"/>
            </a:xfrm>
            <a:prstGeom prst="rect">
              <a:avLst/>
            </a:prstGeom>
            <a:noFill/>
          </p:spPr>
          <p:txBody>
            <a:bodyPr wrap="square" lIns="27432" tIns="18288" rIns="27432" bIns="18288" anchor="t"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sz="2600" b="1">
                  <a:solidFill>
                    <a:srgbClr val="FAEFE0"/>
                  </a:solidFill>
                  <a:latin typeface="Aptos Display"/>
                </a:rPr>
                <a:t>About me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112BD5C9-547F-3705-6FA0-1BE0D52BB51D}"/>
              </a:ext>
            </a:extLst>
          </p:cNvPr>
          <p:cNvSpPr txBox="1"/>
          <p:nvPr/>
        </p:nvSpPr>
        <p:spPr>
          <a:xfrm>
            <a:off x="6216444" y="2440750"/>
            <a:ext cx="5350716" cy="3768724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 marL="91440" algn="l">
              <a:spcAft>
                <a:spcPts val="900"/>
              </a:spcAft>
            </a:pPr>
            <a:r>
              <a:rPr lang="en-GB" sz="1800" b="1" dirty="0">
                <a:solidFill>
                  <a:srgbClr val="E1AE47"/>
                </a:solidFill>
                <a:latin typeface="Aptos"/>
              </a:rPr>
              <a:t>What I do</a:t>
            </a:r>
            <a:endParaRPr lang="en-GB" sz="1800" b="1" dirty="0">
              <a:solidFill>
                <a:srgbClr val="516071"/>
              </a:solidFill>
              <a:latin typeface="Aptos"/>
            </a:endParaRPr>
          </a:p>
          <a:p>
            <a:pPr marL="230400" algn="l">
              <a:spcAft>
                <a:spcPts val="900"/>
              </a:spcAft>
            </a:pPr>
            <a:r>
              <a:rPr lang="en-GB" sz="1600" dirty="0">
                <a:solidFill>
                  <a:srgbClr val="B9C6C8"/>
                </a:solidFill>
                <a:latin typeface="Aptos"/>
              </a:rPr>
              <a:t>Product Manager by day, suspiciously calm roundtable contributor by night.</a:t>
            </a:r>
            <a:endParaRPr sz="1600" dirty="0">
              <a:solidFill>
                <a:srgbClr val="516071"/>
              </a:solidFill>
              <a:latin typeface="Aptos"/>
            </a:endParaRPr>
          </a:p>
          <a:p>
            <a:pPr marL="91440">
              <a:spcAft>
                <a:spcPts val="900"/>
              </a:spcAft>
            </a:pPr>
            <a:r>
              <a:rPr lang="en-GB" sz="1800" b="1" dirty="0">
                <a:solidFill>
                  <a:srgbClr val="E1AE47"/>
                </a:solidFill>
                <a:latin typeface="Aptos"/>
              </a:rPr>
              <a:t>Why being a traitor matters to me</a:t>
            </a:r>
            <a:endParaRPr lang="en-GB" b="1" dirty="0">
              <a:solidFill>
                <a:srgbClr val="516071"/>
              </a:solidFill>
            </a:endParaRPr>
          </a:p>
          <a:p>
            <a:pPr marL="230400">
              <a:spcAft>
                <a:spcPts val="900"/>
              </a:spcAft>
            </a:pPr>
            <a:r>
              <a:rPr lang="en-GB" sz="1600" dirty="0">
                <a:solidFill>
                  <a:srgbClr val="B9C6C8"/>
                </a:solidFill>
                <a:latin typeface="Aptos"/>
              </a:rPr>
              <a:t>Sometimes success is about strategy, confidence… and looking innocent when everyone is staring at you.</a:t>
            </a:r>
            <a:endParaRPr sz="1600" b="1" dirty="0">
              <a:solidFill>
                <a:srgbClr val="516071"/>
              </a:solidFill>
              <a:latin typeface="Aptos"/>
            </a:endParaRPr>
          </a:p>
          <a:p>
            <a:pPr marL="91440">
              <a:spcAft>
                <a:spcPts val="900"/>
              </a:spcAft>
            </a:pPr>
            <a:r>
              <a:rPr lang="en-GB" sz="1800" b="1" dirty="0">
                <a:solidFill>
                  <a:srgbClr val="E1AE47"/>
                </a:solidFill>
                <a:latin typeface="Aptos"/>
              </a:rPr>
              <a:t>One relevant lesson learned</a:t>
            </a:r>
            <a:endParaRPr lang="en-GB" b="1" dirty="0">
              <a:solidFill>
                <a:srgbClr val="516071"/>
              </a:solidFill>
            </a:endParaRPr>
          </a:p>
          <a:p>
            <a:pPr marL="230400">
              <a:spcAft>
                <a:spcPts val="900"/>
              </a:spcAft>
            </a:pPr>
            <a:r>
              <a:rPr lang="en-GB" sz="1600" dirty="0">
                <a:solidFill>
                  <a:srgbClr val="B9C6C8"/>
                </a:solidFill>
                <a:latin typeface="Aptos"/>
              </a:rPr>
              <a:t>Trust is important — but so is checking whether someone is dramatically avoiding eye contact.</a:t>
            </a:r>
            <a:endParaRPr lang="en-GB" sz="1600" b="1" dirty="0">
              <a:solidFill>
                <a:srgbClr val="516071"/>
              </a:solidFill>
              <a:latin typeface="Aptos"/>
            </a:endParaRPr>
          </a:p>
          <a:p>
            <a:pPr marL="91440">
              <a:spcAft>
                <a:spcPts val="900"/>
              </a:spcAft>
            </a:pPr>
            <a:r>
              <a:rPr lang="en-GB" sz="1800" b="1" dirty="0">
                <a:solidFill>
                  <a:srgbClr val="E1AE47"/>
                </a:solidFill>
                <a:latin typeface="Aptos"/>
              </a:rPr>
              <a:t>What you can ask me about today</a:t>
            </a:r>
            <a:endParaRPr lang="en-GB" b="1" dirty="0">
              <a:solidFill>
                <a:srgbClr val="516071"/>
              </a:solidFill>
            </a:endParaRPr>
          </a:p>
          <a:p>
            <a:pPr marL="230400">
              <a:spcAft>
                <a:spcPts val="900"/>
              </a:spcAft>
            </a:pPr>
            <a:r>
              <a:rPr lang="en-GB" sz="1600" dirty="0">
                <a:solidFill>
                  <a:srgbClr val="B9C6C8"/>
                </a:solidFill>
                <a:latin typeface="Aptos"/>
              </a:rPr>
              <a:t>Careers, Tech/AI, Football, Golf, and whether I’d make it past breakfast without being banished.</a:t>
            </a:r>
            <a:endParaRPr sz="1600" b="1" dirty="0">
              <a:solidFill>
                <a:srgbClr val="516071"/>
              </a:solidFill>
              <a:latin typeface="Apto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FF83840-4621-F10E-ED9A-FF1C25C2A64C}"/>
              </a:ext>
            </a:extLst>
          </p:cNvPr>
          <p:cNvSpPr txBox="1"/>
          <p:nvPr/>
        </p:nvSpPr>
        <p:spPr>
          <a:xfrm>
            <a:off x="594360" y="4002471"/>
            <a:ext cx="5501640" cy="229774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 b="1" dirty="0">
                <a:solidFill>
                  <a:srgbClr val="E1AE47"/>
                </a:solidFill>
                <a:latin typeface="Aptos"/>
              </a:rPr>
              <a:t>Episode 1: </a:t>
            </a:r>
            <a:r>
              <a:rPr lang="en-GB" sz="1100" dirty="0">
                <a:solidFill>
                  <a:srgbClr val="B9C6C8"/>
                </a:solidFill>
                <a:latin typeface="Aptos"/>
              </a:rPr>
              <a:t>Arrive at the castle looking innocent, immediately start overthinking everyone’s eye contact.</a:t>
            </a:r>
          </a:p>
          <a:p>
            <a:pPr>
              <a:lnSpc>
                <a:spcPct val="150000"/>
              </a:lnSpc>
            </a:pPr>
            <a:r>
              <a:rPr lang="en-GB" sz="1100" b="1" dirty="0">
                <a:solidFill>
                  <a:srgbClr val="E1AE47"/>
                </a:solidFill>
                <a:latin typeface="Aptos"/>
              </a:rPr>
              <a:t>Episode 2: </a:t>
            </a:r>
            <a:r>
              <a:rPr lang="en-GB" sz="1100" dirty="0">
                <a:solidFill>
                  <a:srgbClr val="B9C6C8"/>
                </a:solidFill>
                <a:latin typeface="Aptos"/>
              </a:rPr>
              <a:t>Form alliances, trust nobody, and pretend my spreadsheet of suspects is “just notes.”</a:t>
            </a:r>
          </a:p>
          <a:p>
            <a:pPr>
              <a:lnSpc>
                <a:spcPct val="150000"/>
              </a:lnSpc>
            </a:pPr>
            <a:r>
              <a:rPr lang="en-GB" sz="1100" b="1" dirty="0">
                <a:solidFill>
                  <a:srgbClr val="E1AE47"/>
                </a:solidFill>
                <a:latin typeface="Aptos"/>
              </a:rPr>
              <a:t>Episode 3: </a:t>
            </a:r>
            <a:r>
              <a:rPr lang="en-GB" sz="1100" dirty="0">
                <a:solidFill>
                  <a:srgbClr val="B9C6C8"/>
                </a:solidFill>
                <a:latin typeface="Aptos"/>
              </a:rPr>
              <a:t>Survive the first roundtable by nodding wisely and saying, “That’s interesting…”</a:t>
            </a:r>
          </a:p>
          <a:p>
            <a:pPr>
              <a:lnSpc>
                <a:spcPct val="150000"/>
              </a:lnSpc>
            </a:pPr>
            <a:r>
              <a:rPr lang="en-GB" sz="1100" b="1" dirty="0">
                <a:solidFill>
                  <a:srgbClr val="E1AE47"/>
                </a:solidFill>
                <a:latin typeface="Aptos"/>
              </a:rPr>
              <a:t>Episode 4: </a:t>
            </a:r>
            <a:r>
              <a:rPr lang="en-GB" sz="1100" dirty="0">
                <a:solidFill>
                  <a:srgbClr val="B9C6C8"/>
                </a:solidFill>
                <a:latin typeface="Aptos"/>
              </a:rPr>
              <a:t>Complete a mission, add money to the prize pot, then accuse someone for breathing suspiciously.</a:t>
            </a:r>
          </a:p>
          <a:p>
            <a:pPr>
              <a:lnSpc>
                <a:spcPct val="150000"/>
              </a:lnSpc>
            </a:pPr>
            <a:r>
              <a:rPr lang="en-GB" sz="1100" b="1" dirty="0">
                <a:solidFill>
                  <a:srgbClr val="E1AE47"/>
                </a:solidFill>
                <a:latin typeface="Aptos"/>
              </a:rPr>
              <a:t>Finale: </a:t>
            </a:r>
            <a:r>
              <a:rPr lang="en-GB" sz="1100" dirty="0">
                <a:solidFill>
                  <a:srgbClr val="B9C6C8"/>
                </a:solidFill>
                <a:latin typeface="Aptos"/>
              </a:rPr>
              <a:t>Reveal the real strategy: stay calm, ask better questions, and avoid being banished before lunch.</a:t>
            </a:r>
            <a:endParaRPr sz="1100" dirty="0">
              <a:solidFill>
                <a:srgbClr val="B9C6C8"/>
              </a:solidFill>
              <a:latin typeface="Apto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0B3E551-29CC-AC0F-2098-EE1F34EAA269}"/>
              </a:ext>
            </a:extLst>
          </p:cNvPr>
          <p:cNvGrpSpPr>
            <a:grpSpLocks noChangeAspect="1"/>
          </p:cNvGrpSpPr>
          <p:nvPr/>
        </p:nvGrpSpPr>
        <p:grpSpPr>
          <a:xfrm>
            <a:off x="2625180" y="1841041"/>
            <a:ext cx="1440000" cy="1440000"/>
            <a:chOff x="2694168" y="1841041"/>
            <a:chExt cx="1279718" cy="1279718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F3D08D6-5F91-462D-EE97-12E4C658768A}"/>
                </a:ext>
              </a:extLst>
            </p:cNvPr>
            <p:cNvSpPr/>
            <p:nvPr/>
          </p:nvSpPr>
          <p:spPr>
            <a:xfrm>
              <a:off x="2694168" y="1841041"/>
              <a:ext cx="1279718" cy="1279718"/>
            </a:xfrm>
            <a:prstGeom prst="ellipse">
              <a:avLst/>
            </a:prstGeom>
            <a:solidFill>
              <a:srgbClr val="091E21"/>
            </a:solidFill>
            <a:ln w="27940">
              <a:solidFill>
                <a:srgbClr val="E1AE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1B157E67-5A8C-4F86-913A-EB7CEBC976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9961" b="99544" l="1563" r="99121">
                          <a14:foregroundMark x1="7324" y1="63216" x2="11719" y2="90169"/>
                          <a14:foregroundMark x1="11719" y1="90169" x2="53613" y2="97331"/>
                          <a14:foregroundMark x1="53613" y1="97331" x2="79688" y2="95313"/>
                          <a14:foregroundMark x1="79688" y1="95313" x2="93848" y2="84896"/>
                          <a14:foregroundMark x1="93848" y1="84896" x2="97168" y2="65365"/>
                          <a14:foregroundMark x1="1660" y1="68815" x2="3320" y2="98177"/>
                          <a14:foregroundMark x1="97949" y1="87500" x2="99121" y2="99544"/>
                        </a14:backgroundRemoval>
                      </a14:imgEffect>
                    </a14:imgLayer>
                  </a14:imgProps>
                </a:ext>
              </a:extLst>
            </a:blip>
            <a:srcRect l="1478" t="-1" r="1478" b="35306"/>
            <a:stretch>
              <a:fillRect/>
            </a:stretch>
          </p:blipFill>
          <p:spPr>
            <a:xfrm>
              <a:off x="2816571" y="1892008"/>
              <a:ext cx="1010736" cy="1010736"/>
            </a:xfrm>
            <a:prstGeom prst="ellipse">
              <a:avLst/>
            </a:prstGeom>
            <a:noFill/>
            <a:ln w="76200">
              <a:noFill/>
            </a:ln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353A3131-7B8A-C75B-59EC-A65300EA0C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-5639" b="5639"/>
            <a:stretch>
              <a:fillRect/>
            </a:stretch>
          </p:blipFill>
          <p:spPr>
            <a:xfrm>
              <a:off x="2704027" y="1850900"/>
              <a:ext cx="1260000" cy="1260000"/>
            </a:xfrm>
            <a:prstGeom prst="ellipse">
              <a:avLst/>
            </a:prstGeom>
            <a:noFill/>
            <a:ln w="76200">
              <a:noFill/>
            </a:ln>
          </p:spPr>
        </p:pic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068524C3-E0AF-3957-92E9-DE5040F29EE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61" b="99544" l="1563" r="99121">
                        <a14:foregroundMark x1="7324" y1="63216" x2="11719" y2="90169"/>
                        <a14:foregroundMark x1="11719" y1="90169" x2="53613" y2="97331"/>
                        <a14:foregroundMark x1="53613" y1="97331" x2="79688" y2="95313"/>
                        <a14:foregroundMark x1="79688" y1="95313" x2="93848" y2="84896"/>
                        <a14:foregroundMark x1="93848" y1="84896" x2="97168" y2="65365"/>
                        <a14:foregroundMark x1="1660" y1="68815" x2="3320" y2="98177"/>
                        <a14:foregroundMark x1="97949" y1="87500" x2="99121" y2="99544"/>
                      </a14:backgroundRemoval>
                    </a14:imgEffect>
                  </a14:imgLayer>
                </a14:imgProps>
              </a:ext>
            </a:extLst>
          </a:blip>
          <a:srcRect l="1478" t="-1" r="1478" b="35306"/>
          <a:stretch>
            <a:fillRect/>
          </a:stretch>
        </p:blipFill>
        <p:spPr>
          <a:xfrm>
            <a:off x="-1882992" y="1931041"/>
            <a:ext cx="1260000" cy="1260000"/>
          </a:xfrm>
          <a:prstGeom prst="ellipse">
            <a:avLst/>
          </a:prstGeom>
          <a:solidFill>
            <a:srgbClr val="EBF3FF"/>
          </a:solidFill>
          <a:ln w="76200">
            <a:solidFill>
              <a:srgbClr val="2478FF"/>
            </a:solidFill>
          </a:ln>
        </p:spPr>
      </p:pic>
    </p:spTree>
    <p:extLst>
      <p:ext uri="{BB962C8B-B14F-4D97-AF65-F5344CB8AC3E}">
        <p14:creationId xmlns:p14="http://schemas.microsoft.com/office/powerpoint/2010/main" val="28829215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256032"/>
            <a:ext cx="1005840" cy="0"/>
          </a:xfrm>
          <a:prstGeom prst="line">
            <a:avLst/>
          </a:prstGeom>
          <a:noFill/>
          <a:ln w="63500">
            <a:solidFill>
              <a:srgbClr val="FF6363">
                <a:alpha val="78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064240" y="502920"/>
            <a:ext cx="502920" cy="0"/>
          </a:xfrm>
          <a:prstGeom prst="line">
            <a:avLst/>
          </a:prstGeom>
          <a:noFill/>
          <a:ln w="63500">
            <a:solidFill>
              <a:srgbClr val="FFD166">
                <a:alpha val="9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594360" y="374904"/>
            <a:ext cx="411480" cy="0"/>
          </a:xfrm>
          <a:prstGeom prst="line">
            <a:avLst/>
          </a:prstGeom>
          <a:noFill/>
          <a:ln w="38100">
            <a:solidFill>
              <a:srgbClr val="FF63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06424" y="30175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050" b="1">
                <a:solidFill>
                  <a:srgbClr val="FF6363"/>
                </a:solidFill>
                <a:latin typeface="Aptos"/>
              </a:rPr>
              <a:t>AI FUNDAMENTALS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GB" sz="3400" b="1">
                <a:solidFill>
                  <a:srgbClr val="111F36"/>
                </a:solidFill>
                <a:latin typeface="Aptos Display"/>
              </a:rPr>
              <a:t>Demystifying AI Fundamentals </a:t>
            </a:r>
            <a:r>
              <a:rPr lang="en-GB" sz="3400" b="1">
                <a:solidFill>
                  <a:srgbClr val="2478FF"/>
                </a:solidFill>
                <a:latin typeface="Aptos Display"/>
              </a:rPr>
              <a:t>101</a:t>
            </a:r>
            <a:endParaRPr lang="en-GB" sz="3800"/>
          </a:p>
        </p:txBody>
      </p:sp>
      <p:sp>
        <p:nvSpPr>
          <p:cNvPr id="7" name="Text 5"/>
          <p:cNvSpPr/>
          <p:nvPr/>
        </p:nvSpPr>
        <p:spPr>
          <a:xfrm>
            <a:off x="621792" y="13716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160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is a very small part of the wider AI puzzle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6473952"/>
            <a:ext cx="9692640" cy="0"/>
          </a:xfrm>
          <a:prstGeom prst="line">
            <a:avLst/>
          </a:prstGeom>
          <a:noFill/>
          <a:ln w="12700">
            <a:solidFill>
              <a:srgbClr val="D8DC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94360" y="659282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160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Prompting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972800" y="657453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GB" sz="1000">
                <a:solidFill>
                  <a:srgbClr val="182438"/>
                </a:solidFill>
                <a:latin typeface="Aptos"/>
              </a:rPr>
              <a:t>03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2189399-4287-F4CA-E2DD-C7862BD82F5F}"/>
              </a:ext>
            </a:extLst>
          </p:cNvPr>
          <p:cNvGrpSpPr/>
          <p:nvPr/>
        </p:nvGrpSpPr>
        <p:grpSpPr>
          <a:xfrm>
            <a:off x="838431" y="1874519"/>
            <a:ext cx="4500000" cy="4500000"/>
            <a:chOff x="838431" y="1874519"/>
            <a:chExt cx="4500000" cy="4500000"/>
          </a:xfrm>
        </p:grpSpPr>
        <p:sp>
          <p:nvSpPr>
            <p:cNvPr id="11" name="Oval 10"/>
            <p:cNvSpPr/>
            <p:nvPr/>
          </p:nvSpPr>
          <p:spPr>
            <a:xfrm>
              <a:off x="838431" y="1874519"/>
              <a:ext cx="4500000" cy="4500000"/>
            </a:xfrm>
            <a:prstGeom prst="ellipse">
              <a:avLst/>
            </a:prstGeom>
            <a:solidFill>
              <a:srgbClr val="E6F7FF"/>
            </a:solidFill>
            <a:ln w="17780">
              <a:solidFill>
                <a:srgbClr val="2478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762551" y="2012302"/>
              <a:ext cx="2651760" cy="501676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450" b="1" dirty="0">
                  <a:solidFill>
                    <a:srgbClr val="2478FF"/>
                  </a:solidFill>
                  <a:latin typeface="Aptos"/>
                </a:rPr>
                <a:t>ARTIFICIAL </a:t>
              </a:r>
              <a:endParaRPr lang="en-GB" sz="1450" b="1" dirty="0">
                <a:solidFill>
                  <a:srgbClr val="2478FF"/>
                </a:solidFill>
                <a:latin typeface="Aptos"/>
              </a:endParaRPr>
            </a:p>
            <a:p>
              <a:pPr algn="ctr">
                <a:spcAft>
                  <a:spcPts val="0"/>
                </a:spcAft>
              </a:pPr>
              <a:r>
                <a:rPr sz="1450" b="1" dirty="0">
                  <a:solidFill>
                    <a:srgbClr val="2478FF"/>
                  </a:solidFill>
                  <a:latin typeface="Aptos"/>
                </a:rPr>
                <a:t>INTELLIGENCE</a:t>
              </a:r>
            </a:p>
          </p:txBody>
        </p:sp>
      </p:grpSp>
      <p:sp>
        <p:nvSpPr>
          <p:cNvPr id="13" name="Oval 12"/>
          <p:cNvSpPr/>
          <p:nvPr/>
        </p:nvSpPr>
        <p:spPr>
          <a:xfrm>
            <a:off x="1407914" y="2651761"/>
            <a:ext cx="3361034" cy="457199"/>
          </a:xfrm>
          <a:prstGeom prst="ellipse">
            <a:avLst/>
          </a:prstGeom>
          <a:solidFill>
            <a:srgbClr val="FFF7F2"/>
          </a:solidFill>
          <a:ln w="15240">
            <a:solidFill>
              <a:srgbClr val="FF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1420" b="1" dirty="0">
                <a:solidFill>
                  <a:srgbClr val="FF6363"/>
                </a:solidFill>
                <a:latin typeface="Aptos Display"/>
              </a:rPr>
              <a:t>RULES-BASED</a:t>
            </a:r>
            <a:r>
              <a:rPr lang="en-GB" sz="1420" b="1" dirty="0">
                <a:solidFill>
                  <a:srgbClr val="FF6363"/>
                </a:solidFill>
                <a:latin typeface="Aptos Display"/>
              </a:rPr>
              <a:t> </a:t>
            </a:r>
            <a:r>
              <a:rPr sz="1420" b="1" dirty="0">
                <a:solidFill>
                  <a:srgbClr val="FF6363"/>
                </a:solidFill>
                <a:latin typeface="Aptos Display"/>
              </a:rPr>
              <a:t>AI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E410A77-60DA-6EE4-D523-DB45D495A7D0}"/>
              </a:ext>
            </a:extLst>
          </p:cNvPr>
          <p:cNvGrpSpPr/>
          <p:nvPr/>
        </p:nvGrpSpPr>
        <p:grpSpPr>
          <a:xfrm>
            <a:off x="1558431" y="3314519"/>
            <a:ext cx="3060000" cy="3060000"/>
            <a:chOff x="1497240" y="3314519"/>
            <a:chExt cx="3060000" cy="3060000"/>
          </a:xfrm>
        </p:grpSpPr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1497240" y="3314519"/>
              <a:ext cx="3060000" cy="3060000"/>
            </a:xfrm>
            <a:prstGeom prst="ellipse">
              <a:avLst/>
            </a:prstGeom>
            <a:solidFill>
              <a:srgbClr val="ECFFF6"/>
            </a:solidFill>
            <a:ln w="15240">
              <a:solidFill>
                <a:srgbClr val="7EDFB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158560" y="3438515"/>
              <a:ext cx="1737360" cy="320040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en-GB" sz="1400" b="1" dirty="0">
                  <a:solidFill>
                    <a:srgbClr val="167D52"/>
                  </a:solidFill>
                  <a:latin typeface="Aptos"/>
                </a:rPr>
                <a:t>MACHINE LEARNING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8F072E2-5BD9-8341-2425-C6AAAB10F478}"/>
              </a:ext>
            </a:extLst>
          </p:cNvPr>
          <p:cNvGrpSpPr/>
          <p:nvPr/>
        </p:nvGrpSpPr>
        <p:grpSpPr>
          <a:xfrm>
            <a:off x="1918431" y="4034519"/>
            <a:ext cx="2340000" cy="2340000"/>
            <a:chOff x="1918431" y="4034519"/>
            <a:chExt cx="2340000" cy="2340000"/>
          </a:xfrm>
        </p:grpSpPr>
        <p:sp>
          <p:nvSpPr>
            <p:cNvPr id="16" name="Oval 15"/>
            <p:cNvSpPr/>
            <p:nvPr/>
          </p:nvSpPr>
          <p:spPr>
            <a:xfrm>
              <a:off x="1918431" y="4034519"/>
              <a:ext cx="2340000" cy="2340000"/>
            </a:xfrm>
            <a:prstGeom prst="ellipse">
              <a:avLst/>
            </a:prstGeom>
            <a:solidFill>
              <a:srgbClr val="FFF3C4"/>
            </a:solidFill>
            <a:ln w="15240">
              <a:solidFill>
                <a:srgbClr val="FFD1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151172" y="4143923"/>
              <a:ext cx="1874519" cy="461665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320" b="1" dirty="0">
                  <a:solidFill>
                    <a:srgbClr val="AE7400"/>
                  </a:solidFill>
                  <a:latin typeface="Aptos"/>
                </a:rPr>
                <a:t>GENERATIVE</a:t>
              </a:r>
              <a:endParaRPr lang="en-GB" sz="1320" b="1" dirty="0">
                <a:solidFill>
                  <a:srgbClr val="AE7400"/>
                </a:solidFill>
                <a:latin typeface="Aptos"/>
              </a:endParaRPr>
            </a:p>
            <a:p>
              <a:pPr algn="ctr">
                <a:spcAft>
                  <a:spcPts val="0"/>
                </a:spcAft>
              </a:pPr>
              <a:r>
                <a:rPr sz="1320" b="1" dirty="0">
                  <a:solidFill>
                    <a:srgbClr val="AE7400"/>
                  </a:solidFill>
                  <a:latin typeface="Aptos"/>
                </a:rPr>
                <a:t>AI</a:t>
              </a:r>
            </a:p>
          </p:txBody>
        </p:sp>
      </p:grpSp>
      <p:sp>
        <p:nvSpPr>
          <p:cNvPr id="18" name="Oval 17"/>
          <p:cNvSpPr/>
          <p:nvPr/>
        </p:nvSpPr>
        <p:spPr>
          <a:xfrm>
            <a:off x="2458431" y="5114519"/>
            <a:ext cx="1260000" cy="1260000"/>
          </a:xfrm>
          <a:prstGeom prst="ellipse">
            <a:avLst/>
          </a:prstGeom>
          <a:solidFill>
            <a:srgbClr val="FFE1DD"/>
          </a:solidFill>
          <a:ln w="15240">
            <a:solidFill>
              <a:srgbClr val="FF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1600" b="1" dirty="0">
                <a:solidFill>
                  <a:srgbClr val="FF6363"/>
                </a:solidFill>
                <a:latin typeface="Aptos Display"/>
              </a:rPr>
              <a:t>LLMs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1847088"/>
            <a:ext cx="4892040" cy="3474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dirty="0">
                <a:solidFill>
                  <a:srgbClr val="111F36"/>
                </a:solidFill>
                <a:latin typeface="Aptos Display"/>
              </a:rPr>
              <a:t>How the pieces fit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2368296"/>
            <a:ext cx="502920" cy="32004"/>
          </a:xfrm>
          <a:prstGeom prst="rect">
            <a:avLst/>
          </a:prstGeom>
          <a:solidFill>
            <a:srgbClr val="24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42048" y="2221992"/>
            <a:ext cx="4389120" cy="6037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GB" sz="1550" b="1" dirty="0">
                <a:solidFill>
                  <a:srgbClr val="2478FF"/>
                </a:solidFill>
                <a:latin typeface="Aptos Display"/>
              </a:rPr>
              <a:t>Artificial Intelligence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GB" sz="1400" dirty="0">
                <a:solidFill>
                  <a:srgbClr val="111F36"/>
                </a:solidFill>
                <a:latin typeface="Aptos"/>
              </a:rPr>
              <a:t>Software that seems to make smart choices.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GB" sz="1400" i="1" dirty="0">
                <a:solidFill>
                  <a:srgbClr val="526884"/>
                </a:solidFill>
                <a:latin typeface="Aptos"/>
              </a:rPr>
              <a:t>Instagram’s “For You” feed ranking posts.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3090672"/>
            <a:ext cx="502920" cy="32004"/>
          </a:xfrm>
          <a:prstGeom prst="rect">
            <a:avLst/>
          </a:prstGeom>
          <a:solidFill>
            <a:srgbClr val="FF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42048" y="2944368"/>
            <a:ext cx="4389120" cy="6037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GB" sz="1550" b="1" dirty="0">
                <a:solidFill>
                  <a:srgbClr val="FF6363"/>
                </a:solidFill>
                <a:latin typeface="Aptos Display"/>
              </a:rPr>
              <a:t>Rules-based AI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GB" sz="1400" dirty="0">
                <a:solidFill>
                  <a:srgbClr val="111F36"/>
                </a:solidFill>
                <a:latin typeface="Aptos"/>
              </a:rPr>
              <a:t>Fixed if/then logic for predictable results.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GB" sz="1400" i="1" dirty="0">
                <a:solidFill>
                  <a:srgbClr val="526884"/>
                </a:solidFill>
                <a:latin typeface="Aptos"/>
              </a:rPr>
              <a:t>A chatbot provides support based on fixed options menu.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3813048"/>
            <a:ext cx="502920" cy="32004"/>
          </a:xfrm>
          <a:prstGeom prst="rect">
            <a:avLst/>
          </a:prstGeom>
          <a:solidFill>
            <a:srgbClr val="7ED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42048" y="3666744"/>
            <a:ext cx="4389120" cy="6037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GB" sz="1550" b="1" dirty="0">
                <a:solidFill>
                  <a:srgbClr val="7EDFB2"/>
                </a:solidFill>
                <a:latin typeface="Aptos Display"/>
              </a:rPr>
              <a:t>Machine Learning AI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GB" sz="1400" dirty="0">
                <a:solidFill>
                  <a:srgbClr val="111F36"/>
                </a:solidFill>
                <a:latin typeface="Aptos"/>
              </a:rPr>
              <a:t>Learns patterns from data over time.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GB" sz="1400" i="1" dirty="0">
                <a:solidFill>
                  <a:srgbClr val="526884"/>
                </a:solidFill>
                <a:latin typeface="Aptos"/>
              </a:rPr>
              <a:t>TikTok learning what you rewatch to show you more.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7960" y="4535424"/>
            <a:ext cx="502920" cy="32004"/>
          </a:xfrm>
          <a:prstGeom prst="rect">
            <a:avLst/>
          </a:prstGeom>
          <a:solidFill>
            <a:srgbClr val="FFC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42048" y="4389120"/>
            <a:ext cx="4389120" cy="6037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GB" sz="1550" b="1" dirty="0">
                <a:solidFill>
                  <a:srgbClr val="FFC652"/>
                </a:solidFill>
                <a:latin typeface="Aptos Display"/>
              </a:rPr>
              <a:t>Generative AI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GB" sz="1400" dirty="0">
                <a:solidFill>
                  <a:srgbClr val="111F36"/>
                </a:solidFill>
                <a:latin typeface="Aptos"/>
              </a:rPr>
              <a:t>Creates new text, images, sound or code.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GB" sz="1400" i="1" dirty="0">
                <a:solidFill>
                  <a:srgbClr val="526884"/>
                </a:solidFill>
                <a:latin typeface="Aptos"/>
              </a:rPr>
              <a:t>YouTube auto captions for videos.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37960" y="5257800"/>
            <a:ext cx="502920" cy="32004"/>
          </a:xfrm>
          <a:prstGeom prst="rect">
            <a:avLst/>
          </a:prstGeom>
          <a:solidFill>
            <a:srgbClr val="FF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42048" y="5111496"/>
            <a:ext cx="4389120" cy="6037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GB" sz="1550" b="1" dirty="0">
                <a:solidFill>
                  <a:srgbClr val="FF6363"/>
                </a:solidFill>
                <a:latin typeface="Aptos Display"/>
              </a:rPr>
              <a:t>Large Language Models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GB" sz="1400" dirty="0">
                <a:solidFill>
                  <a:srgbClr val="111F36"/>
                </a:solidFill>
                <a:latin typeface="Aptos"/>
              </a:rPr>
              <a:t>GenAI built for language and dialogue.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GB" sz="1400" i="1" dirty="0">
                <a:solidFill>
                  <a:srgbClr val="526884"/>
                </a:solidFill>
                <a:latin typeface="Aptos"/>
              </a:rPr>
              <a:t>A chatbot helping to summarise revision notes.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5897880"/>
            <a:ext cx="4754880" cy="53245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dirty="0">
                <a:solidFill>
                  <a:srgbClr val="2478FF"/>
                </a:solidFill>
                <a:latin typeface="Aptos Display"/>
              </a:rPr>
              <a:t>Big idea: </a:t>
            </a:r>
            <a:r>
              <a:rPr sz="1550" b="1" dirty="0">
                <a:solidFill>
                  <a:srgbClr val="516071"/>
                </a:solidFill>
                <a:latin typeface="Aptos Display"/>
              </a:rPr>
              <a:t>GenAI is powerful, but it is only a small part of AI.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0055C2-DAF1-D11B-EB3C-8B66F00CF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A0BC7BF-91CF-15DD-B7DE-0976D6A2DD3C}"/>
              </a:ext>
            </a:extLst>
          </p:cNvPr>
          <p:cNvSpPr/>
          <p:nvPr/>
        </p:nvSpPr>
        <p:spPr>
          <a:xfrm>
            <a:off x="10424160" y="256032"/>
            <a:ext cx="1005840" cy="0"/>
          </a:xfrm>
          <a:prstGeom prst="line">
            <a:avLst/>
          </a:prstGeom>
          <a:noFill/>
          <a:ln w="63500">
            <a:solidFill>
              <a:srgbClr val="FF6363">
                <a:alpha val="78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AA4E710-2DB7-38C1-9F63-5FBB102F1F2D}"/>
              </a:ext>
            </a:extLst>
          </p:cNvPr>
          <p:cNvSpPr/>
          <p:nvPr/>
        </p:nvSpPr>
        <p:spPr>
          <a:xfrm>
            <a:off x="11064240" y="502920"/>
            <a:ext cx="502920" cy="0"/>
          </a:xfrm>
          <a:prstGeom prst="line">
            <a:avLst/>
          </a:prstGeom>
          <a:noFill/>
          <a:ln w="63500">
            <a:solidFill>
              <a:srgbClr val="FFD166">
                <a:alpha val="9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8EB7C06-2E98-5CEB-DDBC-FF3071811890}"/>
              </a:ext>
            </a:extLst>
          </p:cNvPr>
          <p:cNvSpPr/>
          <p:nvPr/>
        </p:nvSpPr>
        <p:spPr>
          <a:xfrm>
            <a:off x="594360" y="374904"/>
            <a:ext cx="411480" cy="0"/>
          </a:xfrm>
          <a:prstGeom prst="line">
            <a:avLst/>
          </a:prstGeom>
          <a:noFill/>
          <a:ln w="38100">
            <a:solidFill>
              <a:srgbClr val="FF63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15FB6B3-F25C-FBA0-4867-24BFAD39DEC7}"/>
              </a:ext>
            </a:extLst>
          </p:cNvPr>
          <p:cNvSpPr/>
          <p:nvPr/>
        </p:nvSpPr>
        <p:spPr>
          <a:xfrm>
            <a:off x="1106424" y="30175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3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IDEA</a:t>
            </a:r>
            <a:endParaRPr lang="en-US" sz="10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1CA3317-1ABE-22AE-4CDC-6E98874A91B9}"/>
              </a:ext>
            </a:extLst>
          </p:cNvPr>
          <p:cNvSpPr/>
          <p:nvPr/>
        </p:nvSpPr>
        <p:spPr>
          <a:xfrm>
            <a:off x="594360" y="62179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is not magic…</a:t>
            </a:r>
            <a:endParaRPr lang="en-US" sz="3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7C2B248-87F1-BCCC-E310-943F3906D25B}"/>
              </a:ext>
            </a:extLst>
          </p:cNvPr>
          <p:cNvSpPr/>
          <p:nvPr/>
        </p:nvSpPr>
        <p:spPr>
          <a:xfrm>
            <a:off x="621792" y="13716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160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does not read your mind — it responds to your instructions.</a:t>
            </a:r>
            <a:endParaRPr lang="en-US" sz="18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AC0E791-B966-4333-A66C-4A3508779DD9}"/>
              </a:ext>
            </a:extLst>
          </p:cNvPr>
          <p:cNvSpPr/>
          <p:nvPr/>
        </p:nvSpPr>
        <p:spPr>
          <a:xfrm>
            <a:off x="594360" y="6473952"/>
            <a:ext cx="9692640" cy="0"/>
          </a:xfrm>
          <a:prstGeom prst="line">
            <a:avLst/>
          </a:prstGeom>
          <a:noFill/>
          <a:ln w="12700">
            <a:solidFill>
              <a:srgbClr val="D8DC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F2E2F3C-CA31-D4A2-7352-ACED3FB91D1C}"/>
              </a:ext>
            </a:extLst>
          </p:cNvPr>
          <p:cNvSpPr/>
          <p:nvPr/>
        </p:nvSpPr>
        <p:spPr>
          <a:xfrm>
            <a:off x="594360" y="659282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160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Prompting</a:t>
            </a:r>
            <a:endParaRPr lang="en-US" sz="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935BA76-E2D5-7C4D-A2C0-50C1B4562E6E}"/>
              </a:ext>
            </a:extLst>
          </p:cNvPr>
          <p:cNvSpPr/>
          <p:nvPr/>
        </p:nvSpPr>
        <p:spPr>
          <a:xfrm>
            <a:off x="10972800" y="657453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GB" sz="1000">
                <a:solidFill>
                  <a:srgbClr val="182438"/>
                </a:solidFill>
                <a:latin typeface="Aptos"/>
              </a:rPr>
              <a:t>04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82E5C91-C82F-5C3F-F11D-0959AE3C2C08}"/>
              </a:ext>
            </a:extLst>
          </p:cNvPr>
          <p:cNvSpPr/>
          <p:nvPr/>
        </p:nvSpPr>
        <p:spPr>
          <a:xfrm>
            <a:off x="749808" y="196596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…It’s </a:t>
            </a:r>
            <a:r>
              <a:rPr lang="en-US" sz="3600" b="1" dirty="0">
                <a:solidFill>
                  <a:srgbClr val="247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</a:t>
            </a:r>
            <a:r>
              <a:rPr lang="en-US" sz="36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,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but </a:t>
            </a:r>
            <a:r>
              <a:rPr lang="en-US" sz="3600" b="1" dirty="0">
                <a:solidFill>
                  <a:srgbClr val="FF63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</a:t>
            </a:r>
            <a:r>
              <a:rPr lang="en-US" sz="36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psychic.</a:t>
            </a:r>
            <a:endParaRPr lang="en-US" sz="36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08C0A53-A424-7985-E939-A215B0EF0B78}"/>
              </a:ext>
            </a:extLst>
          </p:cNvPr>
          <p:cNvSpPr/>
          <p:nvPr/>
        </p:nvSpPr>
        <p:spPr>
          <a:xfrm>
            <a:off x="4160520" y="2221993"/>
            <a:ext cx="2479766" cy="1417320"/>
          </a:xfrm>
          <a:prstGeom prst="roundRect">
            <a:avLst>
              <a:gd name="adj" fmla="val 6400"/>
            </a:avLst>
          </a:prstGeom>
          <a:solidFill>
            <a:srgbClr val="FFF7F2"/>
          </a:solidFill>
          <a:ln w="12700">
            <a:solidFill>
              <a:srgbClr val="FF6363"/>
            </a:solidFill>
            <a:prstDash val="solid"/>
          </a:ln>
          <a:effectLst>
            <a:outerShdw blurRad="15240" dist="762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AACA493-4C3E-4F40-086E-D0EA5822C925}"/>
              </a:ext>
            </a:extLst>
          </p:cNvPr>
          <p:cNvSpPr/>
          <p:nvPr/>
        </p:nvSpPr>
        <p:spPr>
          <a:xfrm>
            <a:off x="4361688" y="2340865"/>
            <a:ext cx="23774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63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VAGUE PROMPT</a:t>
            </a:r>
            <a:endParaRPr lang="en-US" sz="10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C1383F8-014E-D6E5-E18C-062AACDEE0E9}"/>
              </a:ext>
            </a:extLst>
          </p:cNvPr>
          <p:cNvSpPr/>
          <p:nvPr/>
        </p:nvSpPr>
        <p:spPr>
          <a:xfrm>
            <a:off x="4361688" y="2660905"/>
            <a:ext cx="214913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20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Explain climate change.</a:t>
            </a:r>
            <a:endParaRPr lang="en-US" sz="1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C2D7C3F-AED9-D993-D4EE-FCAA74A40F97}"/>
              </a:ext>
            </a:extLst>
          </p:cNvPr>
          <p:cNvSpPr/>
          <p:nvPr/>
        </p:nvSpPr>
        <p:spPr>
          <a:xfrm>
            <a:off x="6772003" y="2738629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63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32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D0A753C-E5CB-FF46-DEC2-1E89B95DC8DF}"/>
              </a:ext>
            </a:extLst>
          </p:cNvPr>
          <p:cNvSpPr/>
          <p:nvPr/>
        </p:nvSpPr>
        <p:spPr>
          <a:xfrm>
            <a:off x="7406640" y="2221993"/>
            <a:ext cx="3675888" cy="1417320"/>
          </a:xfrm>
          <a:prstGeom prst="roundRect">
            <a:avLst>
              <a:gd name="adj" fmla="val 5161"/>
            </a:avLst>
          </a:prstGeom>
          <a:solidFill>
            <a:srgbClr val="FF6363"/>
          </a:solidFill>
          <a:ln w="12700">
            <a:solidFill>
              <a:srgbClr val="FF6363"/>
            </a:solidFill>
            <a:prstDash val="solid"/>
          </a:ln>
          <a:effectLst>
            <a:outerShdw blurRad="15240" dist="762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F27506E-1AFC-7CA7-D4EA-470226B238B5}"/>
              </a:ext>
            </a:extLst>
          </p:cNvPr>
          <p:cNvSpPr/>
          <p:nvPr/>
        </p:nvSpPr>
        <p:spPr>
          <a:xfrm>
            <a:off x="7586763" y="2340865"/>
            <a:ext cx="3273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MESSY ANSWER</a:t>
            </a:r>
            <a:endParaRPr lang="en-US" sz="1050" dirty="0">
              <a:solidFill>
                <a:srgbClr val="FFF7F2"/>
              </a:solidFill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5175B67-642A-A87C-374E-623A70EE6FA1}"/>
              </a:ext>
            </a:extLst>
          </p:cNvPr>
          <p:cNvSpPr/>
          <p:nvPr/>
        </p:nvSpPr>
        <p:spPr>
          <a:xfrm>
            <a:off x="7586763" y="2660905"/>
            <a:ext cx="3273051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generic answer</a:t>
            </a:r>
            <a:endParaRPr lang="en-US" sz="1600" dirty="0">
              <a:solidFill>
                <a:srgbClr val="FFF7F2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FFF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guesses about what you need.</a:t>
            </a:r>
            <a:endParaRPr lang="en-US" sz="1600" dirty="0">
              <a:solidFill>
                <a:srgbClr val="FFF7F2"/>
              </a:solidFill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4668EDB-C7DD-0680-237B-8BB122D72861}"/>
              </a:ext>
            </a:extLst>
          </p:cNvPr>
          <p:cNvSpPr/>
          <p:nvPr/>
        </p:nvSpPr>
        <p:spPr>
          <a:xfrm>
            <a:off x="4160520" y="4274821"/>
            <a:ext cx="3474720" cy="1508759"/>
          </a:xfrm>
          <a:prstGeom prst="roundRect">
            <a:avLst>
              <a:gd name="adj" fmla="val 5714"/>
            </a:avLst>
          </a:prstGeom>
          <a:solidFill>
            <a:srgbClr val="F2FAFF"/>
          </a:solidFill>
          <a:ln w="12700">
            <a:solidFill>
              <a:srgbClr val="2478FF"/>
            </a:solidFill>
            <a:prstDash val="solid"/>
          </a:ln>
          <a:effectLst>
            <a:outerShdw blurRad="15240" dist="762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1D2BA64-7151-2151-C709-940DE13DA793}"/>
              </a:ext>
            </a:extLst>
          </p:cNvPr>
          <p:cNvSpPr/>
          <p:nvPr/>
        </p:nvSpPr>
        <p:spPr>
          <a:xfrm>
            <a:off x="4361688" y="439369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47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PROMPT</a:t>
            </a:r>
            <a:endParaRPr lang="en-US" sz="10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0780BA2-2D39-EE77-17EF-4C02C76A0B8C}"/>
              </a:ext>
            </a:extLst>
          </p:cNvPr>
          <p:cNvSpPr/>
          <p:nvPr/>
        </p:nvSpPr>
        <p:spPr>
          <a:xfrm>
            <a:off x="4389120" y="4713734"/>
            <a:ext cx="30175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20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Explain climate change to a 16-year-old GCSE Geography student in 200 words.</a:t>
            </a:r>
            <a:endParaRPr lang="en-US" sz="14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9882149-6BD3-5302-3D29-F1B380B000EC}"/>
              </a:ext>
            </a:extLst>
          </p:cNvPr>
          <p:cNvSpPr/>
          <p:nvPr/>
        </p:nvSpPr>
        <p:spPr>
          <a:xfrm>
            <a:off x="7735824" y="483717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47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32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61783A89-9970-291B-693E-DCFAC46AEA89}"/>
              </a:ext>
            </a:extLst>
          </p:cNvPr>
          <p:cNvSpPr/>
          <p:nvPr/>
        </p:nvSpPr>
        <p:spPr>
          <a:xfrm>
            <a:off x="8339328" y="4274822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2478FF"/>
          </a:solidFill>
          <a:ln w="12700">
            <a:solidFill>
              <a:srgbClr val="2478FF"/>
            </a:solidFill>
            <a:prstDash val="solid"/>
          </a:ln>
          <a:effectLst>
            <a:outerShdw blurRad="15240" dist="762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>
              <a:solidFill>
                <a:srgbClr val="F2FAFF"/>
              </a:solidFill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440624A-7C4E-E4CA-4023-EBC4502D7076}"/>
              </a:ext>
            </a:extLst>
          </p:cNvPr>
          <p:cNvSpPr/>
          <p:nvPr/>
        </p:nvSpPr>
        <p:spPr>
          <a:xfrm>
            <a:off x="8540496" y="439369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2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HELP</a:t>
            </a:r>
            <a:endParaRPr lang="en-US" sz="1050" dirty="0">
              <a:solidFill>
                <a:srgbClr val="F2FAFF"/>
              </a:solidFill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DF4E2ABB-F148-0869-B8E9-621174334BDD}"/>
              </a:ext>
            </a:extLst>
          </p:cNvPr>
          <p:cNvSpPr/>
          <p:nvPr/>
        </p:nvSpPr>
        <p:spPr>
          <a:xfrm>
            <a:off x="8567928" y="4713734"/>
            <a:ext cx="22860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2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useful answer</a:t>
            </a:r>
            <a:endParaRPr lang="en-US" sz="1600" dirty="0">
              <a:solidFill>
                <a:srgbClr val="F2FAFF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F2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matched to your level, topic and format.</a:t>
            </a:r>
            <a:endParaRPr lang="en-US" sz="1600" dirty="0">
              <a:solidFill>
                <a:srgbClr val="F2FAFF"/>
              </a:solidFill>
            </a:endParaRPr>
          </a:p>
        </p:txBody>
      </p:sp>
      <p:pic>
        <p:nvPicPr>
          <p:cNvPr id="26" name="Mystic ball icon - transparent" descr="mystic_ball_transparent.png">
            <a:extLst>
              <a:ext uri="{FF2B5EF4-FFF2-40B4-BE49-F238E27FC236}">
                <a16:creationId xmlns:a16="http://schemas.microsoft.com/office/drawing/2014/main" id="{0A9327FE-65ED-10F2-56F6-FB9B26C9A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638" y="3858768"/>
            <a:ext cx="1248660" cy="162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2958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256032"/>
            <a:ext cx="1005840" cy="0"/>
          </a:xfrm>
          <a:prstGeom prst="line">
            <a:avLst/>
          </a:prstGeom>
          <a:noFill/>
          <a:ln w="63500">
            <a:solidFill>
              <a:srgbClr val="FF6363">
                <a:alpha val="78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064240" y="502920"/>
            <a:ext cx="502920" cy="0"/>
          </a:xfrm>
          <a:prstGeom prst="line">
            <a:avLst/>
          </a:prstGeom>
          <a:noFill/>
          <a:ln w="63500">
            <a:solidFill>
              <a:srgbClr val="FFD166">
                <a:alpha val="9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594360" y="374904"/>
            <a:ext cx="411480" cy="0"/>
          </a:xfrm>
          <a:prstGeom prst="line">
            <a:avLst/>
          </a:prstGeom>
          <a:noFill/>
          <a:ln w="38100">
            <a:solidFill>
              <a:srgbClr val="FF63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06424" y="30175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3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DEFINITION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Generative AI creates new things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21792" y="13716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160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Text, images, code, summaries, slides and study plans can all be generated.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6473952"/>
            <a:ext cx="9692640" cy="0"/>
          </a:xfrm>
          <a:prstGeom prst="line">
            <a:avLst/>
          </a:prstGeom>
          <a:noFill/>
          <a:ln w="12700">
            <a:solidFill>
              <a:srgbClr val="D8DC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94360" y="659282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160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Prompting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972800" y="657453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GB" sz="1000">
                <a:solidFill>
                  <a:srgbClr val="182438"/>
                </a:solidFill>
                <a:latin typeface="Aptos"/>
              </a:rPr>
              <a:t>05</a:t>
            </a:r>
          </a:p>
        </p:txBody>
      </p:sp>
      <p:sp>
        <p:nvSpPr>
          <p:cNvPr id="26" name="Shape 19"/>
          <p:cNvSpPr/>
          <p:nvPr/>
        </p:nvSpPr>
        <p:spPr>
          <a:xfrm>
            <a:off x="1984248" y="4783455"/>
            <a:ext cx="8183880" cy="0"/>
          </a:xfrm>
          <a:prstGeom prst="line">
            <a:avLst/>
          </a:prstGeom>
          <a:noFill/>
          <a:ln w="304800">
            <a:gradFill flip="none" rotWithShape="1">
              <a:gsLst>
                <a:gs pos="0">
                  <a:srgbClr val="2478FF"/>
                </a:gs>
                <a:gs pos="50000">
                  <a:srgbClr val="FF6363"/>
                </a:gs>
                <a:gs pos="100000">
                  <a:srgbClr val="2478FF"/>
                </a:gs>
              </a:gsLst>
              <a:lin ang="0" scaled="1"/>
              <a:tileRect/>
            </a:gradFill>
            <a:prstDash val="solid"/>
            <a:headEnd type="triangl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0"/>
          <p:cNvSpPr/>
          <p:nvPr/>
        </p:nvSpPr>
        <p:spPr>
          <a:xfrm>
            <a:off x="1188720" y="5408675"/>
            <a:ext cx="2286000" cy="946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47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rgbClr val="51607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 advise/suggest via a prompt</a:t>
            </a:r>
            <a:endParaRPr lang="en-US" sz="2000" dirty="0">
              <a:solidFill>
                <a:srgbClr val="516071"/>
              </a:solidFill>
            </a:endParaRPr>
          </a:p>
        </p:txBody>
      </p:sp>
      <p:sp>
        <p:nvSpPr>
          <p:cNvPr id="28" name="Text 21"/>
          <p:cNvSpPr/>
          <p:nvPr/>
        </p:nvSpPr>
        <p:spPr>
          <a:xfrm>
            <a:off x="4480560" y="5408675"/>
            <a:ext cx="3108960" cy="9464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3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Generative AI / Agent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rgbClr val="51607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generates a first draft</a:t>
            </a:r>
            <a:endParaRPr lang="en-US" sz="2000" dirty="0">
              <a:solidFill>
                <a:srgbClr val="516071"/>
              </a:solidFill>
            </a:endParaRPr>
          </a:p>
        </p:txBody>
      </p:sp>
      <p:sp>
        <p:nvSpPr>
          <p:cNvPr id="29" name="Text 22"/>
          <p:cNvSpPr/>
          <p:nvPr/>
        </p:nvSpPr>
        <p:spPr>
          <a:xfrm>
            <a:off x="8439912" y="5408675"/>
            <a:ext cx="2286000" cy="94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47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rgbClr val="51607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 improve it</a:t>
            </a:r>
            <a:endParaRPr lang="en-US" sz="2000" dirty="0">
              <a:solidFill>
                <a:srgbClr val="51607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0F138E9-F702-147F-8CA6-8BCF5F1BD3B8}"/>
              </a:ext>
            </a:extLst>
          </p:cNvPr>
          <p:cNvGrpSpPr/>
          <p:nvPr/>
        </p:nvGrpSpPr>
        <p:grpSpPr>
          <a:xfrm>
            <a:off x="377160" y="2090547"/>
            <a:ext cx="11484698" cy="1824228"/>
            <a:chOff x="377160" y="2334006"/>
            <a:chExt cx="11484698" cy="1824228"/>
          </a:xfrm>
        </p:grpSpPr>
        <p:sp>
          <p:nvSpPr>
            <p:cNvPr id="13" name="Text 10"/>
            <p:cNvSpPr/>
            <p:nvPr/>
          </p:nvSpPr>
          <p:spPr>
            <a:xfrm>
              <a:off x="377160" y="3865626"/>
              <a:ext cx="17830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900" b="1" dirty="0">
                  <a:solidFill>
                    <a:srgbClr val="16203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Text</a:t>
              </a:r>
              <a:endParaRPr lang="en-US" sz="1900" dirty="0"/>
            </a:p>
          </p:txBody>
        </p:sp>
        <p:pic>
          <p:nvPicPr>
            <p:cNvPr id="30" name="Image 0" descr="icon_id12_transparent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9513" y="2334006"/>
              <a:ext cx="1338374" cy="1325880"/>
            </a:xfrm>
            <a:prstGeom prst="rect">
              <a:avLst/>
            </a:prstGeom>
          </p:spPr>
        </p:pic>
        <p:sp>
          <p:nvSpPr>
            <p:cNvPr id="16" name="Text 12"/>
            <p:cNvSpPr/>
            <p:nvPr/>
          </p:nvSpPr>
          <p:spPr>
            <a:xfrm>
              <a:off x="2759643" y="3865626"/>
              <a:ext cx="17830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900" b="1" dirty="0">
                  <a:solidFill>
                    <a:srgbClr val="16203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Images / Videos</a:t>
              </a:r>
              <a:endParaRPr lang="en-US" sz="1900" dirty="0"/>
            </a:p>
          </p:txBody>
        </p:sp>
        <p:pic>
          <p:nvPicPr>
            <p:cNvPr id="31" name="Image 1" descr="icon_id15_transparent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27880" y="2334006"/>
              <a:ext cx="1246607" cy="1325880"/>
            </a:xfrm>
            <a:prstGeom prst="rect">
              <a:avLst/>
            </a:prstGeom>
          </p:spPr>
        </p:pic>
        <p:sp>
          <p:nvSpPr>
            <p:cNvPr id="19" name="Text 14"/>
            <p:cNvSpPr/>
            <p:nvPr/>
          </p:nvSpPr>
          <p:spPr>
            <a:xfrm>
              <a:off x="5204460" y="3865626"/>
              <a:ext cx="17830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900" b="1" dirty="0">
                  <a:solidFill>
                    <a:srgbClr val="16203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Code</a:t>
              </a:r>
              <a:endParaRPr lang="en-US" sz="1900" dirty="0"/>
            </a:p>
          </p:txBody>
        </p:sp>
        <p:pic>
          <p:nvPicPr>
            <p:cNvPr id="32" name="Image 2" descr="icon_id18_transparent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64480" y="2460982"/>
              <a:ext cx="1463040" cy="1198904"/>
            </a:xfrm>
            <a:prstGeom prst="rect">
              <a:avLst/>
            </a:prstGeom>
          </p:spPr>
        </p:pic>
        <p:sp>
          <p:nvSpPr>
            <p:cNvPr id="22" name="Text 16"/>
            <p:cNvSpPr/>
            <p:nvPr/>
          </p:nvSpPr>
          <p:spPr>
            <a:xfrm>
              <a:off x="7696294" y="3865626"/>
              <a:ext cx="17830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900" b="1" dirty="0">
                  <a:solidFill>
                    <a:srgbClr val="16203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Slides</a:t>
              </a:r>
              <a:endParaRPr lang="en-US" sz="1900" dirty="0"/>
            </a:p>
          </p:txBody>
        </p:sp>
        <p:pic>
          <p:nvPicPr>
            <p:cNvPr id="33" name="Image 3" descr="icon_id21_transparent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64029" y="2334006"/>
              <a:ext cx="1447611" cy="1325880"/>
            </a:xfrm>
            <a:prstGeom prst="rect">
              <a:avLst/>
            </a:prstGeom>
          </p:spPr>
        </p:pic>
        <p:sp>
          <p:nvSpPr>
            <p:cNvPr id="25" name="Text 18"/>
            <p:cNvSpPr/>
            <p:nvPr/>
          </p:nvSpPr>
          <p:spPr>
            <a:xfrm>
              <a:off x="10078778" y="3865626"/>
              <a:ext cx="17830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900" b="1" dirty="0">
                  <a:solidFill>
                    <a:srgbClr val="16203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Study plans</a:t>
              </a:r>
              <a:endParaRPr lang="en-US" sz="1900" dirty="0"/>
            </a:p>
          </p:txBody>
        </p:sp>
        <p:pic>
          <p:nvPicPr>
            <p:cNvPr id="34" name="Image 4" descr="study_plans_brain_book_transparent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348149" y="2350700"/>
              <a:ext cx="1244338" cy="1309186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256032"/>
            <a:ext cx="1005840" cy="0"/>
          </a:xfrm>
          <a:prstGeom prst="line">
            <a:avLst/>
          </a:prstGeom>
          <a:noFill/>
          <a:ln w="63500">
            <a:solidFill>
              <a:srgbClr val="FF6363">
                <a:alpha val="78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064240" y="502920"/>
            <a:ext cx="502920" cy="0"/>
          </a:xfrm>
          <a:prstGeom prst="line">
            <a:avLst/>
          </a:prstGeom>
          <a:noFill/>
          <a:ln w="63500">
            <a:solidFill>
              <a:srgbClr val="FFD166">
                <a:alpha val="9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594360" y="374904"/>
            <a:ext cx="411480" cy="0"/>
          </a:xfrm>
          <a:prstGeom prst="line">
            <a:avLst/>
          </a:prstGeom>
          <a:noFill/>
          <a:ln w="38100">
            <a:solidFill>
              <a:srgbClr val="FF63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06424" y="30175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3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BEHIND THE CHATBOT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an LLM?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621792" y="13716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160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Large Language Model is an AI system that works with words.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6473952"/>
            <a:ext cx="9692640" cy="0"/>
          </a:xfrm>
          <a:prstGeom prst="line">
            <a:avLst/>
          </a:prstGeom>
          <a:noFill/>
          <a:ln w="12700">
            <a:solidFill>
              <a:srgbClr val="D8DC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94360" y="659282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160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Prompting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972800" y="657453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GB" sz="1000">
                <a:solidFill>
                  <a:srgbClr val="182438"/>
                </a:solidFill>
                <a:latin typeface="Aptos"/>
              </a:rPr>
              <a:t>06</a:t>
            </a:r>
          </a:p>
        </p:txBody>
      </p:sp>
      <p:sp>
        <p:nvSpPr>
          <p:cNvPr id="21" name="Text 18"/>
          <p:cNvSpPr/>
          <p:nvPr/>
        </p:nvSpPr>
        <p:spPr>
          <a:xfrm>
            <a:off x="2209800" y="5801275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5160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reads your words, uses patterns from training, and writes back.</a:t>
            </a:r>
            <a:endParaRPr lang="en-US" sz="1900" b="1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FD1FD9B-1E9B-7DE0-8CDB-A249E90745AE}"/>
              </a:ext>
            </a:extLst>
          </p:cNvPr>
          <p:cNvGrpSpPr/>
          <p:nvPr/>
        </p:nvGrpSpPr>
        <p:grpSpPr>
          <a:xfrm>
            <a:off x="261243" y="1935645"/>
            <a:ext cx="5686929" cy="3511597"/>
            <a:chOff x="261243" y="1599901"/>
            <a:chExt cx="5686929" cy="3511597"/>
          </a:xfrm>
        </p:grpSpPr>
        <p:sp>
          <p:nvSpPr>
            <p:cNvPr id="12" name="Text 10"/>
            <p:cNvSpPr/>
            <p:nvPr/>
          </p:nvSpPr>
          <p:spPr>
            <a:xfrm>
              <a:off x="261243" y="1599901"/>
              <a:ext cx="1920240" cy="768096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2478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Prompt in</a:t>
              </a:r>
              <a:endParaRPr lang="en-US" sz="2000" dirty="0">
                <a:solidFill>
                  <a:srgbClr val="2478FF"/>
                </a:solidFill>
              </a:endParaRPr>
            </a:p>
            <a:p>
              <a:pPr marL="0" indent="0" algn="ctr">
                <a:buNone/>
              </a:pPr>
              <a:r>
                <a:rPr lang="en-US" sz="2000" b="1" dirty="0">
                  <a:solidFill>
                    <a:srgbClr val="2478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What do you want?</a:t>
              </a:r>
              <a:endParaRPr lang="en-US" sz="2000" dirty="0">
                <a:solidFill>
                  <a:srgbClr val="2478FF"/>
                </a:solidFill>
              </a:endParaRPr>
            </a:p>
          </p:txBody>
        </p:sp>
        <p:sp>
          <p:nvSpPr>
            <p:cNvPr id="13" name="Text 11"/>
            <p:cNvSpPr/>
            <p:nvPr/>
          </p:nvSpPr>
          <p:spPr>
            <a:xfrm rot="3600000">
              <a:off x="1788232" y="2546454"/>
              <a:ext cx="502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2478FF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→</a:t>
              </a:r>
              <a:endParaRPr lang="en-US" sz="3600" dirty="0"/>
            </a:p>
          </p:txBody>
        </p:sp>
        <p:sp>
          <p:nvSpPr>
            <p:cNvPr id="18" name="Text 15"/>
            <p:cNvSpPr/>
            <p:nvPr/>
          </p:nvSpPr>
          <p:spPr>
            <a:xfrm rot="18000000">
              <a:off x="3817620" y="2546453"/>
              <a:ext cx="502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FF636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→</a:t>
              </a:r>
              <a:endParaRPr lang="en-US" sz="3600" dirty="0"/>
            </a:p>
          </p:txBody>
        </p:sp>
        <p:sp>
          <p:nvSpPr>
            <p:cNvPr id="20" name="Text 17"/>
            <p:cNvSpPr/>
            <p:nvPr/>
          </p:nvSpPr>
          <p:spPr>
            <a:xfrm>
              <a:off x="3982212" y="1599901"/>
              <a:ext cx="1965960" cy="768094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636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Answer out</a:t>
              </a:r>
              <a:endParaRPr lang="en-US" sz="2000" dirty="0">
                <a:solidFill>
                  <a:srgbClr val="FF6363"/>
                </a:solidFill>
              </a:endParaRPr>
            </a:p>
            <a:p>
              <a:pPr marL="0" indent="0" algn="ctr">
                <a:buNone/>
              </a:pPr>
              <a:r>
                <a:rPr lang="en-US" sz="2000" b="1" dirty="0">
                  <a:solidFill>
                    <a:srgbClr val="FF636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 draft you can use</a:t>
              </a:r>
              <a:endParaRPr lang="en-US" sz="2000" dirty="0">
                <a:solidFill>
                  <a:srgbClr val="FF6363"/>
                </a:solidFill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D1F075D3-3611-1512-8D05-D485AD036B86}"/>
                </a:ext>
              </a:extLst>
            </p:cNvPr>
            <p:cNvGrpSpPr/>
            <p:nvPr/>
          </p:nvGrpSpPr>
          <p:grpSpPr>
            <a:xfrm>
              <a:off x="1504508" y="3108960"/>
              <a:ext cx="3154680" cy="2002538"/>
              <a:chOff x="4518660" y="2512312"/>
              <a:chExt cx="3154680" cy="2002538"/>
            </a:xfrm>
          </p:grpSpPr>
          <p:sp>
            <p:nvSpPr>
              <p:cNvPr id="16" name="Text 13"/>
              <p:cNvSpPr/>
              <p:nvPr/>
            </p:nvSpPr>
            <p:spPr>
              <a:xfrm>
                <a:off x="4518660" y="3929634"/>
                <a:ext cx="3154680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700" b="1" dirty="0">
                    <a:solidFill>
                      <a:srgbClr val="162033"/>
                    </a:solidFill>
                    <a:latin typeface="Aptos Display" pitchFamily="34" charset="0"/>
                    <a:ea typeface="Aptos Display" pitchFamily="34" charset="-122"/>
                    <a:cs typeface="Aptos Display" pitchFamily="34" charset="-120"/>
                  </a:rPr>
                  <a:t>LLM</a:t>
                </a:r>
                <a:endParaRPr lang="en-US" sz="2700" dirty="0"/>
              </a:p>
            </p:txBody>
          </p:sp>
          <p:sp>
            <p:nvSpPr>
              <p:cNvPr id="17" name="Text 14"/>
              <p:cNvSpPr/>
              <p:nvPr/>
            </p:nvSpPr>
            <p:spPr>
              <a:xfrm>
                <a:off x="4610100" y="4313682"/>
                <a:ext cx="2971800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50" dirty="0">
                    <a:solidFill>
                      <a:srgbClr val="51607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predicts a useful response</a:t>
                </a:r>
                <a:endParaRPr lang="en-US" sz="1450" dirty="0"/>
              </a:p>
            </p:txBody>
          </p:sp>
          <p:pic>
            <p:nvPicPr>
              <p:cNvPr id="22" name="Image 0" descr="slide4_id15_transparent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99710" y="2512312"/>
                <a:ext cx="1592580" cy="1417320"/>
              </a:xfrm>
              <a:prstGeom prst="rect">
                <a:avLst/>
              </a:prstGeom>
            </p:spPr>
          </p:pic>
        </p:grpSp>
      </p:grpSp>
      <p:sp>
        <p:nvSpPr>
          <p:cNvPr id="25" name="Text 13">
            <a:extLst>
              <a:ext uri="{FF2B5EF4-FFF2-40B4-BE49-F238E27FC236}">
                <a16:creationId xmlns:a16="http://schemas.microsoft.com/office/drawing/2014/main" id="{9CA95260-7770-2495-A0E3-495F212CC2E7}"/>
              </a:ext>
            </a:extLst>
          </p:cNvPr>
          <p:cNvSpPr/>
          <p:nvPr/>
        </p:nvSpPr>
        <p:spPr>
          <a:xfrm>
            <a:off x="6243829" y="1935645"/>
            <a:ext cx="56869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a LLM works…</a:t>
            </a:r>
            <a:endParaRPr lang="en-US" sz="2000" dirty="0"/>
          </a:p>
        </p:txBody>
      </p:sp>
      <p:grpSp>
        <p:nvGrpSpPr>
          <p:cNvPr id="6192" name="Group 6191">
            <a:extLst>
              <a:ext uri="{FF2B5EF4-FFF2-40B4-BE49-F238E27FC236}">
                <a16:creationId xmlns:a16="http://schemas.microsoft.com/office/drawing/2014/main" id="{C64D75A3-6A5F-50D7-A527-9AF8F116DB58}"/>
              </a:ext>
            </a:extLst>
          </p:cNvPr>
          <p:cNvGrpSpPr/>
          <p:nvPr/>
        </p:nvGrpSpPr>
        <p:grpSpPr>
          <a:xfrm>
            <a:off x="6709453" y="2426538"/>
            <a:ext cx="4755678" cy="554690"/>
            <a:chOff x="6709453" y="2426538"/>
            <a:chExt cx="4755678" cy="554690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D5E0ED5-B6BF-862F-1892-90D0EC35E01A}"/>
                </a:ext>
              </a:extLst>
            </p:cNvPr>
            <p:cNvSpPr/>
            <p:nvPr/>
          </p:nvSpPr>
          <p:spPr>
            <a:xfrm>
              <a:off x="6709453" y="2426538"/>
              <a:ext cx="1110343" cy="554690"/>
            </a:xfrm>
            <a:prstGeom prst="roundRect">
              <a:avLst/>
            </a:prstGeom>
            <a:solidFill>
              <a:srgbClr val="EBF3FF"/>
            </a:solidFill>
            <a:ln w="12700">
              <a:solidFill>
                <a:srgbClr val="2478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GB" sz="1400" b="1" dirty="0">
                  <a:solidFill>
                    <a:srgbClr val="2478FF"/>
                  </a:solidFill>
                </a:rPr>
                <a:t>The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4EDAC6DF-557F-C8AE-886C-9A36A7BB8F14}"/>
                </a:ext>
              </a:extLst>
            </p:cNvPr>
            <p:cNvSpPr/>
            <p:nvPr/>
          </p:nvSpPr>
          <p:spPr>
            <a:xfrm>
              <a:off x="7928653" y="2426538"/>
              <a:ext cx="1110343" cy="554690"/>
            </a:xfrm>
            <a:prstGeom prst="roundRect">
              <a:avLst/>
            </a:prstGeom>
            <a:solidFill>
              <a:srgbClr val="FFEBEB"/>
            </a:solidFill>
            <a:ln w="12700">
              <a:solidFill>
                <a:srgbClr val="FF636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GB" sz="1400" b="1" dirty="0">
                  <a:solidFill>
                    <a:srgbClr val="FF6363"/>
                  </a:solidFill>
                </a:rPr>
                <a:t>sky</a:t>
              </a: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7B86BD7-4ACB-0A2F-9D16-DB4C7EBAF87C}"/>
                </a:ext>
              </a:extLst>
            </p:cNvPr>
            <p:cNvSpPr/>
            <p:nvPr/>
          </p:nvSpPr>
          <p:spPr>
            <a:xfrm>
              <a:off x="9147853" y="2426538"/>
              <a:ext cx="1110343" cy="554690"/>
            </a:xfrm>
            <a:prstGeom prst="roundRect">
              <a:avLst/>
            </a:prstGeom>
            <a:solidFill>
              <a:srgbClr val="FFF9EB"/>
            </a:solidFill>
            <a:ln w="12700">
              <a:solidFill>
                <a:srgbClr val="FFD1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GB" sz="1400" b="1" dirty="0">
                  <a:solidFill>
                    <a:srgbClr val="FFD166"/>
                  </a:solidFill>
                </a:rPr>
                <a:t>is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9AC62A22-74D1-AC85-4616-A826133576A5}"/>
                </a:ext>
              </a:extLst>
            </p:cNvPr>
            <p:cNvSpPr/>
            <p:nvPr/>
          </p:nvSpPr>
          <p:spPr>
            <a:xfrm>
              <a:off x="10354788" y="2426538"/>
              <a:ext cx="1110343" cy="554690"/>
            </a:xfrm>
            <a:prstGeom prst="roundRect">
              <a:avLst/>
            </a:prstGeom>
            <a:solidFill>
              <a:srgbClr val="516071">
                <a:alpha val="15000"/>
              </a:srgbClr>
            </a:solidFill>
            <a:ln w="12700">
              <a:solidFill>
                <a:srgbClr val="5160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GB" sz="1400" b="1">
                  <a:solidFill>
                    <a:srgbClr val="516071"/>
                  </a:solidFill>
                </a:rPr>
                <a:t>…</a:t>
              </a:r>
            </a:p>
          </p:txBody>
        </p:sp>
      </p:grpSp>
      <p:grpSp>
        <p:nvGrpSpPr>
          <p:cNvPr id="6193" name="Group 6192">
            <a:extLst>
              <a:ext uri="{FF2B5EF4-FFF2-40B4-BE49-F238E27FC236}">
                <a16:creationId xmlns:a16="http://schemas.microsoft.com/office/drawing/2014/main" id="{115027B6-9425-319E-1405-E440BBCA0191}"/>
              </a:ext>
            </a:extLst>
          </p:cNvPr>
          <p:cNvGrpSpPr/>
          <p:nvPr/>
        </p:nvGrpSpPr>
        <p:grpSpPr>
          <a:xfrm>
            <a:off x="6709453" y="4888286"/>
            <a:ext cx="4755678" cy="558956"/>
            <a:chOff x="6709453" y="4888286"/>
            <a:chExt cx="4755678" cy="558956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6D077751-30DE-A4E6-43BE-4F7F72DDB00D}"/>
                </a:ext>
              </a:extLst>
            </p:cNvPr>
            <p:cNvSpPr/>
            <p:nvPr/>
          </p:nvSpPr>
          <p:spPr>
            <a:xfrm>
              <a:off x="6709453" y="4888286"/>
              <a:ext cx="1110343" cy="554690"/>
            </a:xfrm>
            <a:prstGeom prst="roundRect">
              <a:avLst/>
            </a:prstGeom>
            <a:solidFill>
              <a:srgbClr val="2478FF"/>
            </a:solidFill>
            <a:ln w="12700">
              <a:solidFill>
                <a:srgbClr val="2478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GB" sz="1400" b="1" dirty="0">
                  <a:solidFill>
                    <a:srgbClr val="EBF3FF"/>
                  </a:solidFill>
                </a:rPr>
                <a:t>The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1066FE70-6A33-31B4-DF26-64C55D4E8352}"/>
                </a:ext>
              </a:extLst>
            </p:cNvPr>
            <p:cNvSpPr/>
            <p:nvPr/>
          </p:nvSpPr>
          <p:spPr>
            <a:xfrm>
              <a:off x="7928653" y="4888286"/>
              <a:ext cx="1110343" cy="554690"/>
            </a:xfrm>
            <a:prstGeom prst="roundRect">
              <a:avLst/>
            </a:prstGeom>
            <a:solidFill>
              <a:srgbClr val="FF6363"/>
            </a:solidFill>
            <a:ln w="12700">
              <a:solidFill>
                <a:srgbClr val="FF636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GB" sz="1400" b="1" dirty="0">
                  <a:solidFill>
                    <a:srgbClr val="FFEBEB"/>
                  </a:solidFill>
                </a:rPr>
                <a:t>sky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61B54C22-5627-FFE7-ECBC-0C983524ECD9}"/>
                </a:ext>
              </a:extLst>
            </p:cNvPr>
            <p:cNvSpPr/>
            <p:nvPr/>
          </p:nvSpPr>
          <p:spPr>
            <a:xfrm>
              <a:off x="9147853" y="4888286"/>
              <a:ext cx="1110343" cy="554690"/>
            </a:xfrm>
            <a:prstGeom prst="roundRect">
              <a:avLst/>
            </a:prstGeom>
            <a:solidFill>
              <a:srgbClr val="FFD166"/>
            </a:solidFill>
            <a:ln w="12700">
              <a:solidFill>
                <a:srgbClr val="FFD1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GB" sz="1400" b="1" dirty="0">
                  <a:solidFill>
                    <a:srgbClr val="FFF9EB"/>
                  </a:solidFill>
                </a:rPr>
                <a:t>is</a:t>
              </a: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4FC4C40F-9252-59B5-E3CA-1281C001C2CB}"/>
                </a:ext>
              </a:extLst>
            </p:cNvPr>
            <p:cNvSpPr/>
            <p:nvPr/>
          </p:nvSpPr>
          <p:spPr>
            <a:xfrm>
              <a:off x="10354788" y="4892552"/>
              <a:ext cx="1110343" cy="554690"/>
            </a:xfrm>
            <a:prstGeom prst="roundRect">
              <a:avLst/>
            </a:prstGeom>
            <a:solidFill>
              <a:srgbClr val="7EDFB2"/>
            </a:solidFill>
            <a:ln w="12700">
              <a:solidFill>
                <a:srgbClr val="7EDFB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GB" sz="1400" b="1" dirty="0">
                  <a:solidFill>
                    <a:srgbClr val="EFFBF6"/>
                  </a:solidFill>
                </a:rPr>
                <a:t>blue</a:t>
              </a:r>
            </a:p>
          </p:txBody>
        </p:sp>
      </p:grpSp>
      <p:grpSp>
        <p:nvGrpSpPr>
          <p:cNvPr id="6190" name="Group 6189">
            <a:extLst>
              <a:ext uri="{FF2B5EF4-FFF2-40B4-BE49-F238E27FC236}">
                <a16:creationId xmlns:a16="http://schemas.microsoft.com/office/drawing/2014/main" id="{6998EA76-369B-EDE0-1CC1-2220445D8234}"/>
              </a:ext>
            </a:extLst>
          </p:cNvPr>
          <p:cNvGrpSpPr/>
          <p:nvPr/>
        </p:nvGrpSpPr>
        <p:grpSpPr>
          <a:xfrm>
            <a:off x="7135161" y="3242054"/>
            <a:ext cx="1478127" cy="1385407"/>
            <a:chOff x="6457453" y="3182861"/>
            <a:chExt cx="1478127" cy="1385407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E6F375BE-EF1E-6132-CA4C-460ED486EA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7453" y="3182861"/>
              <a:ext cx="252000" cy="252000"/>
            </a:xfrm>
            <a:prstGeom prst="ellipse">
              <a:avLst/>
            </a:prstGeom>
            <a:noFill/>
            <a:ln w="31750">
              <a:solidFill>
                <a:srgbClr val="5160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E704EFED-20D7-B0D1-A62C-27C078FA65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66162" y="3182861"/>
              <a:ext cx="252000" cy="252000"/>
            </a:xfrm>
            <a:prstGeom prst="ellipse">
              <a:avLst/>
            </a:prstGeom>
            <a:noFill/>
            <a:ln w="31750">
              <a:solidFill>
                <a:srgbClr val="5160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602BE3B6-19D4-9A68-74A2-5A89A980A9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74871" y="3182861"/>
              <a:ext cx="252000" cy="252000"/>
            </a:xfrm>
            <a:prstGeom prst="ellipse">
              <a:avLst/>
            </a:prstGeom>
            <a:noFill/>
            <a:ln w="31750">
              <a:solidFill>
                <a:srgbClr val="5160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0F757846-0129-BD64-65A6-D77A3B5D751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3580" y="3182861"/>
              <a:ext cx="252000" cy="252000"/>
            </a:xfrm>
            <a:prstGeom prst="ellipse">
              <a:avLst/>
            </a:prstGeom>
            <a:noFill/>
            <a:ln w="31750">
              <a:solidFill>
                <a:srgbClr val="5160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353BC665-261F-82E7-5665-01ADB22BDFF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61807" y="3859854"/>
              <a:ext cx="252000" cy="252000"/>
            </a:xfrm>
            <a:prstGeom prst="ellipse">
              <a:avLst/>
            </a:prstGeom>
            <a:noFill/>
            <a:ln w="31750">
              <a:solidFill>
                <a:srgbClr val="5160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E6BA2816-2F9A-E486-5D28-D6265C015A0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70516" y="3859854"/>
              <a:ext cx="252000" cy="252000"/>
            </a:xfrm>
            <a:prstGeom prst="ellipse">
              <a:avLst/>
            </a:prstGeom>
            <a:noFill/>
            <a:ln w="31750">
              <a:solidFill>
                <a:srgbClr val="5160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0A77040E-E428-1DA8-5F44-D468F31A455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79225" y="3859854"/>
              <a:ext cx="252000" cy="252000"/>
            </a:xfrm>
            <a:prstGeom prst="ellipse">
              <a:avLst/>
            </a:prstGeom>
            <a:noFill/>
            <a:ln w="31750">
              <a:solidFill>
                <a:srgbClr val="5160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64C06A85-3E05-F0C7-5D5A-15D3913A3A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61807" y="4316268"/>
              <a:ext cx="252000" cy="252000"/>
            </a:xfrm>
            <a:prstGeom prst="ellipse">
              <a:avLst/>
            </a:prstGeom>
            <a:noFill/>
            <a:ln w="31750">
              <a:solidFill>
                <a:srgbClr val="5160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9FCE88A-2EDA-18E4-E048-92C6D0328C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70516" y="4316268"/>
              <a:ext cx="252000" cy="252000"/>
            </a:xfrm>
            <a:prstGeom prst="ellipse">
              <a:avLst/>
            </a:prstGeom>
            <a:noFill/>
            <a:ln w="31750">
              <a:solidFill>
                <a:srgbClr val="5160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0EAA4959-3B68-213E-63DE-447D472F6C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79225" y="4316268"/>
              <a:ext cx="252000" cy="252000"/>
            </a:xfrm>
            <a:prstGeom prst="ellipse">
              <a:avLst/>
            </a:prstGeom>
            <a:noFill/>
            <a:ln w="31750">
              <a:solidFill>
                <a:srgbClr val="5160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E736681-572A-DD15-D817-550C3530A1DE}"/>
                </a:ext>
              </a:extLst>
            </p:cNvPr>
            <p:cNvCxnSpPr>
              <a:stCxn id="36" idx="4"/>
              <a:endCxn id="41" idx="0"/>
            </p:cNvCxnSpPr>
            <p:nvPr/>
          </p:nvCxnSpPr>
          <p:spPr>
            <a:xfrm>
              <a:off x="6583453" y="3434861"/>
              <a:ext cx="204354" cy="424993"/>
            </a:xfrm>
            <a:prstGeom prst="line">
              <a:avLst/>
            </a:prstGeom>
            <a:noFill/>
            <a:ln w="25400">
              <a:solidFill>
                <a:srgbClr val="5160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24A04AF-BB11-6D18-D70A-D3CCD298C3D4}"/>
                </a:ext>
              </a:extLst>
            </p:cNvPr>
            <p:cNvCxnSpPr>
              <a:cxnSpLocks/>
              <a:stCxn id="37" idx="4"/>
              <a:endCxn id="41" idx="0"/>
            </p:cNvCxnSpPr>
            <p:nvPr/>
          </p:nvCxnSpPr>
          <p:spPr>
            <a:xfrm flipH="1">
              <a:off x="6787807" y="3434861"/>
              <a:ext cx="204355" cy="424993"/>
            </a:xfrm>
            <a:prstGeom prst="line">
              <a:avLst/>
            </a:prstGeom>
            <a:noFill/>
            <a:ln w="25400">
              <a:solidFill>
                <a:srgbClr val="5160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67D9550-0E20-8034-05AC-FBAEA3967F65}"/>
                </a:ext>
              </a:extLst>
            </p:cNvPr>
            <p:cNvCxnSpPr>
              <a:cxnSpLocks/>
              <a:stCxn id="37" idx="4"/>
              <a:endCxn id="42" idx="0"/>
            </p:cNvCxnSpPr>
            <p:nvPr/>
          </p:nvCxnSpPr>
          <p:spPr>
            <a:xfrm>
              <a:off x="6992162" y="3434861"/>
              <a:ext cx="204354" cy="424993"/>
            </a:xfrm>
            <a:prstGeom prst="line">
              <a:avLst/>
            </a:prstGeom>
            <a:noFill/>
            <a:ln w="25400">
              <a:solidFill>
                <a:srgbClr val="5160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4E2BF9C5-F7CE-3989-EA03-52B8C4848915}"/>
                </a:ext>
              </a:extLst>
            </p:cNvPr>
            <p:cNvCxnSpPr>
              <a:cxnSpLocks/>
              <a:stCxn id="37" idx="4"/>
              <a:endCxn id="43" idx="0"/>
            </p:cNvCxnSpPr>
            <p:nvPr/>
          </p:nvCxnSpPr>
          <p:spPr>
            <a:xfrm>
              <a:off x="6992162" y="3434861"/>
              <a:ext cx="613063" cy="424993"/>
            </a:xfrm>
            <a:prstGeom prst="line">
              <a:avLst/>
            </a:prstGeom>
            <a:noFill/>
            <a:ln w="25400">
              <a:solidFill>
                <a:srgbClr val="5160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BF5C8B5E-96B7-B09A-7B0B-B816F287D63C}"/>
                </a:ext>
              </a:extLst>
            </p:cNvPr>
            <p:cNvCxnSpPr>
              <a:cxnSpLocks/>
              <a:stCxn id="38" idx="4"/>
              <a:endCxn id="42" idx="0"/>
            </p:cNvCxnSpPr>
            <p:nvPr/>
          </p:nvCxnSpPr>
          <p:spPr>
            <a:xfrm flipH="1">
              <a:off x="7196516" y="3434861"/>
              <a:ext cx="204355" cy="424993"/>
            </a:xfrm>
            <a:prstGeom prst="line">
              <a:avLst/>
            </a:prstGeom>
            <a:noFill/>
            <a:ln w="25400">
              <a:solidFill>
                <a:srgbClr val="5160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45" name="Straight Connector 6144">
              <a:extLst>
                <a:ext uri="{FF2B5EF4-FFF2-40B4-BE49-F238E27FC236}">
                  <a16:creationId xmlns:a16="http://schemas.microsoft.com/office/drawing/2014/main" id="{7B426226-3FB0-022B-6C7D-1C2E8DFC2353}"/>
                </a:ext>
              </a:extLst>
            </p:cNvPr>
            <p:cNvCxnSpPr>
              <a:cxnSpLocks/>
              <a:stCxn id="38" idx="4"/>
              <a:endCxn id="41" idx="0"/>
            </p:cNvCxnSpPr>
            <p:nvPr/>
          </p:nvCxnSpPr>
          <p:spPr>
            <a:xfrm flipH="1">
              <a:off x="6787807" y="3434861"/>
              <a:ext cx="613064" cy="424993"/>
            </a:xfrm>
            <a:prstGeom prst="line">
              <a:avLst/>
            </a:prstGeom>
            <a:noFill/>
            <a:ln w="25400">
              <a:solidFill>
                <a:srgbClr val="5160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49" name="Straight Connector 6148">
              <a:extLst>
                <a:ext uri="{FF2B5EF4-FFF2-40B4-BE49-F238E27FC236}">
                  <a16:creationId xmlns:a16="http://schemas.microsoft.com/office/drawing/2014/main" id="{E0FDF17E-B84F-7450-3043-B22A34E9F890}"/>
                </a:ext>
              </a:extLst>
            </p:cNvPr>
            <p:cNvCxnSpPr>
              <a:cxnSpLocks/>
              <a:stCxn id="40" idx="4"/>
              <a:endCxn id="43" idx="0"/>
            </p:cNvCxnSpPr>
            <p:nvPr/>
          </p:nvCxnSpPr>
          <p:spPr>
            <a:xfrm flipH="1">
              <a:off x="7605225" y="3434861"/>
              <a:ext cx="204355" cy="424993"/>
            </a:xfrm>
            <a:prstGeom prst="line">
              <a:avLst/>
            </a:prstGeom>
            <a:noFill/>
            <a:ln w="25400">
              <a:solidFill>
                <a:srgbClr val="5160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52" name="Straight Connector 6151">
              <a:extLst>
                <a:ext uri="{FF2B5EF4-FFF2-40B4-BE49-F238E27FC236}">
                  <a16:creationId xmlns:a16="http://schemas.microsoft.com/office/drawing/2014/main" id="{8A9F675A-59A9-AF14-481A-4C59DEF1EFFB}"/>
                </a:ext>
              </a:extLst>
            </p:cNvPr>
            <p:cNvCxnSpPr>
              <a:cxnSpLocks/>
              <a:stCxn id="38" idx="4"/>
              <a:endCxn id="43" idx="0"/>
            </p:cNvCxnSpPr>
            <p:nvPr/>
          </p:nvCxnSpPr>
          <p:spPr>
            <a:xfrm>
              <a:off x="7400871" y="3434861"/>
              <a:ext cx="204354" cy="424993"/>
            </a:xfrm>
            <a:prstGeom prst="line">
              <a:avLst/>
            </a:prstGeom>
            <a:noFill/>
            <a:ln w="25400">
              <a:solidFill>
                <a:srgbClr val="5160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55" name="Straight Connector 6154">
              <a:extLst>
                <a:ext uri="{FF2B5EF4-FFF2-40B4-BE49-F238E27FC236}">
                  <a16:creationId xmlns:a16="http://schemas.microsoft.com/office/drawing/2014/main" id="{C72EECDC-D5E7-47EB-011E-1B544204AD71}"/>
                </a:ext>
              </a:extLst>
            </p:cNvPr>
            <p:cNvCxnSpPr>
              <a:cxnSpLocks/>
              <a:stCxn id="36" idx="4"/>
              <a:endCxn id="42" idx="0"/>
            </p:cNvCxnSpPr>
            <p:nvPr/>
          </p:nvCxnSpPr>
          <p:spPr>
            <a:xfrm>
              <a:off x="6583453" y="3434861"/>
              <a:ext cx="613063" cy="424993"/>
            </a:xfrm>
            <a:prstGeom prst="line">
              <a:avLst/>
            </a:prstGeom>
            <a:noFill/>
            <a:ln w="25400">
              <a:solidFill>
                <a:srgbClr val="5160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58" name="Straight Connector 6157">
              <a:extLst>
                <a:ext uri="{FF2B5EF4-FFF2-40B4-BE49-F238E27FC236}">
                  <a16:creationId xmlns:a16="http://schemas.microsoft.com/office/drawing/2014/main" id="{D756EF53-7577-A83B-B5C0-20E7C153AC3D}"/>
                </a:ext>
              </a:extLst>
            </p:cNvPr>
            <p:cNvCxnSpPr>
              <a:cxnSpLocks/>
              <a:stCxn id="40" idx="4"/>
              <a:endCxn id="42" idx="0"/>
            </p:cNvCxnSpPr>
            <p:nvPr/>
          </p:nvCxnSpPr>
          <p:spPr>
            <a:xfrm flipH="1">
              <a:off x="7196516" y="3434861"/>
              <a:ext cx="613064" cy="424993"/>
            </a:xfrm>
            <a:prstGeom prst="line">
              <a:avLst/>
            </a:prstGeom>
            <a:noFill/>
            <a:ln w="25400">
              <a:solidFill>
                <a:srgbClr val="5160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62" name="Straight Connector 6161">
              <a:extLst>
                <a:ext uri="{FF2B5EF4-FFF2-40B4-BE49-F238E27FC236}">
                  <a16:creationId xmlns:a16="http://schemas.microsoft.com/office/drawing/2014/main" id="{33C98A5D-15F6-C005-0F78-1171D66873C2}"/>
                </a:ext>
              </a:extLst>
            </p:cNvPr>
            <p:cNvCxnSpPr>
              <a:cxnSpLocks/>
              <a:stCxn id="43" idx="4"/>
              <a:endCxn id="49" idx="0"/>
            </p:cNvCxnSpPr>
            <p:nvPr/>
          </p:nvCxnSpPr>
          <p:spPr>
            <a:xfrm>
              <a:off x="7605225" y="4111854"/>
              <a:ext cx="0" cy="204414"/>
            </a:xfrm>
            <a:prstGeom prst="line">
              <a:avLst/>
            </a:prstGeom>
            <a:noFill/>
            <a:ln w="25400">
              <a:solidFill>
                <a:srgbClr val="5160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66" name="Straight Connector 6165">
              <a:extLst>
                <a:ext uri="{FF2B5EF4-FFF2-40B4-BE49-F238E27FC236}">
                  <a16:creationId xmlns:a16="http://schemas.microsoft.com/office/drawing/2014/main" id="{2FF569EB-04CA-15C4-EC43-18DAC65977A7}"/>
                </a:ext>
              </a:extLst>
            </p:cNvPr>
            <p:cNvCxnSpPr>
              <a:cxnSpLocks/>
              <a:stCxn id="41" idx="4"/>
              <a:endCxn id="47" idx="0"/>
            </p:cNvCxnSpPr>
            <p:nvPr/>
          </p:nvCxnSpPr>
          <p:spPr>
            <a:xfrm>
              <a:off x="6787807" y="4111854"/>
              <a:ext cx="0" cy="204414"/>
            </a:xfrm>
            <a:prstGeom prst="line">
              <a:avLst/>
            </a:prstGeom>
            <a:noFill/>
            <a:ln w="25400">
              <a:solidFill>
                <a:srgbClr val="5160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69" name="Straight Connector 6168">
              <a:extLst>
                <a:ext uri="{FF2B5EF4-FFF2-40B4-BE49-F238E27FC236}">
                  <a16:creationId xmlns:a16="http://schemas.microsoft.com/office/drawing/2014/main" id="{5E60CD81-0D0C-CD30-1BE2-F5BE87F91E30}"/>
                </a:ext>
              </a:extLst>
            </p:cNvPr>
            <p:cNvCxnSpPr>
              <a:cxnSpLocks/>
              <a:stCxn id="42" idx="4"/>
              <a:endCxn id="48" idx="0"/>
            </p:cNvCxnSpPr>
            <p:nvPr/>
          </p:nvCxnSpPr>
          <p:spPr>
            <a:xfrm>
              <a:off x="7196516" y="4111854"/>
              <a:ext cx="0" cy="204414"/>
            </a:xfrm>
            <a:prstGeom prst="line">
              <a:avLst/>
            </a:prstGeom>
            <a:noFill/>
            <a:ln w="25400">
              <a:solidFill>
                <a:srgbClr val="5160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72" name="Straight Connector 6171">
              <a:extLst>
                <a:ext uri="{FF2B5EF4-FFF2-40B4-BE49-F238E27FC236}">
                  <a16:creationId xmlns:a16="http://schemas.microsoft.com/office/drawing/2014/main" id="{DE4144D7-6DA2-CD38-8D2E-380EE16570A6}"/>
                </a:ext>
              </a:extLst>
            </p:cNvPr>
            <p:cNvCxnSpPr>
              <a:cxnSpLocks/>
              <a:stCxn id="41" idx="4"/>
              <a:endCxn id="48" idx="0"/>
            </p:cNvCxnSpPr>
            <p:nvPr/>
          </p:nvCxnSpPr>
          <p:spPr>
            <a:xfrm>
              <a:off x="6787807" y="4111854"/>
              <a:ext cx="408709" cy="204414"/>
            </a:xfrm>
            <a:prstGeom prst="line">
              <a:avLst/>
            </a:prstGeom>
            <a:noFill/>
            <a:ln w="25400">
              <a:solidFill>
                <a:srgbClr val="5160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75" name="Straight Connector 6174">
              <a:extLst>
                <a:ext uri="{FF2B5EF4-FFF2-40B4-BE49-F238E27FC236}">
                  <a16:creationId xmlns:a16="http://schemas.microsoft.com/office/drawing/2014/main" id="{EF76B862-FECB-97AD-77BB-E43938918E78}"/>
                </a:ext>
              </a:extLst>
            </p:cNvPr>
            <p:cNvCxnSpPr>
              <a:cxnSpLocks/>
              <a:stCxn id="43" idx="4"/>
              <a:endCxn id="48" idx="0"/>
            </p:cNvCxnSpPr>
            <p:nvPr/>
          </p:nvCxnSpPr>
          <p:spPr>
            <a:xfrm flipH="1">
              <a:off x="7196516" y="4111854"/>
              <a:ext cx="408709" cy="204414"/>
            </a:xfrm>
            <a:prstGeom prst="line">
              <a:avLst/>
            </a:prstGeom>
            <a:noFill/>
            <a:ln w="25400">
              <a:solidFill>
                <a:srgbClr val="5160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78" name="Straight Connector 6177">
              <a:extLst>
                <a:ext uri="{FF2B5EF4-FFF2-40B4-BE49-F238E27FC236}">
                  <a16:creationId xmlns:a16="http://schemas.microsoft.com/office/drawing/2014/main" id="{C0767554-93F0-1990-34CE-6E9A20D390B9}"/>
                </a:ext>
              </a:extLst>
            </p:cNvPr>
            <p:cNvCxnSpPr>
              <a:cxnSpLocks/>
              <a:stCxn id="43" idx="4"/>
              <a:endCxn id="47" idx="0"/>
            </p:cNvCxnSpPr>
            <p:nvPr/>
          </p:nvCxnSpPr>
          <p:spPr>
            <a:xfrm flipH="1">
              <a:off x="6787807" y="4111854"/>
              <a:ext cx="817418" cy="204414"/>
            </a:xfrm>
            <a:prstGeom prst="line">
              <a:avLst/>
            </a:prstGeom>
            <a:noFill/>
            <a:ln w="25400">
              <a:solidFill>
                <a:srgbClr val="5160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81" name="Straight Connector 6180">
              <a:extLst>
                <a:ext uri="{FF2B5EF4-FFF2-40B4-BE49-F238E27FC236}">
                  <a16:creationId xmlns:a16="http://schemas.microsoft.com/office/drawing/2014/main" id="{BE021FBF-4E2B-3FCE-8868-A49C54670CD3}"/>
                </a:ext>
              </a:extLst>
            </p:cNvPr>
            <p:cNvCxnSpPr>
              <a:cxnSpLocks/>
              <a:stCxn id="41" idx="4"/>
              <a:endCxn id="49" idx="0"/>
            </p:cNvCxnSpPr>
            <p:nvPr/>
          </p:nvCxnSpPr>
          <p:spPr>
            <a:xfrm>
              <a:off x="6787807" y="4111854"/>
              <a:ext cx="817418" cy="204414"/>
            </a:xfrm>
            <a:prstGeom prst="line">
              <a:avLst/>
            </a:prstGeom>
            <a:noFill/>
            <a:ln w="25400">
              <a:solidFill>
                <a:srgbClr val="5160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84" name="Straight Connector 6183">
              <a:extLst>
                <a:ext uri="{FF2B5EF4-FFF2-40B4-BE49-F238E27FC236}">
                  <a16:creationId xmlns:a16="http://schemas.microsoft.com/office/drawing/2014/main" id="{5E05EB86-84AA-1528-E622-BC8AB41B1175}"/>
                </a:ext>
              </a:extLst>
            </p:cNvPr>
            <p:cNvCxnSpPr>
              <a:cxnSpLocks/>
              <a:stCxn id="42" idx="4"/>
              <a:endCxn id="49" idx="0"/>
            </p:cNvCxnSpPr>
            <p:nvPr/>
          </p:nvCxnSpPr>
          <p:spPr>
            <a:xfrm>
              <a:off x="7196516" y="4111854"/>
              <a:ext cx="408709" cy="204414"/>
            </a:xfrm>
            <a:prstGeom prst="line">
              <a:avLst/>
            </a:prstGeom>
            <a:noFill/>
            <a:ln w="25400">
              <a:solidFill>
                <a:srgbClr val="5160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87" name="Straight Connector 6186">
              <a:extLst>
                <a:ext uri="{FF2B5EF4-FFF2-40B4-BE49-F238E27FC236}">
                  <a16:creationId xmlns:a16="http://schemas.microsoft.com/office/drawing/2014/main" id="{7A41B453-7A46-B7A4-F5DE-7CA6704670ED}"/>
                </a:ext>
              </a:extLst>
            </p:cNvPr>
            <p:cNvCxnSpPr>
              <a:cxnSpLocks/>
              <a:stCxn id="42" idx="4"/>
              <a:endCxn id="47" idx="0"/>
            </p:cNvCxnSpPr>
            <p:nvPr/>
          </p:nvCxnSpPr>
          <p:spPr>
            <a:xfrm flipH="1">
              <a:off x="6787807" y="4111854"/>
              <a:ext cx="408709" cy="204414"/>
            </a:xfrm>
            <a:prstGeom prst="line">
              <a:avLst/>
            </a:prstGeom>
            <a:noFill/>
            <a:ln w="25400">
              <a:solidFill>
                <a:srgbClr val="5160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aphicFrame>
        <p:nvGraphicFramePr>
          <p:cNvPr id="6194" name="Table 6193">
            <a:extLst>
              <a:ext uri="{FF2B5EF4-FFF2-40B4-BE49-F238E27FC236}">
                <a16:creationId xmlns:a16="http://schemas.microsoft.com/office/drawing/2014/main" id="{C902DA1B-85E4-2FA2-9249-738F599783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778036"/>
              </p:ext>
            </p:extLst>
          </p:nvPr>
        </p:nvGraphicFramePr>
        <p:xfrm>
          <a:off x="9038995" y="3160397"/>
          <a:ext cx="2089168" cy="1548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1024">
                  <a:extLst>
                    <a:ext uri="{9D8B030D-6E8A-4147-A177-3AD203B41FA5}">
                      <a16:colId xmlns:a16="http://schemas.microsoft.com/office/drawing/2014/main" val="2326251622"/>
                    </a:ext>
                  </a:extLst>
                </a:gridCol>
                <a:gridCol w="511024">
                  <a:extLst>
                    <a:ext uri="{9D8B030D-6E8A-4147-A177-3AD203B41FA5}">
                      <a16:colId xmlns:a16="http://schemas.microsoft.com/office/drawing/2014/main" val="1766976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38926210"/>
                    </a:ext>
                  </a:extLst>
                </a:gridCol>
                <a:gridCol w="707120">
                  <a:extLst>
                    <a:ext uri="{9D8B030D-6E8A-4147-A177-3AD203B41FA5}">
                      <a16:colId xmlns:a16="http://schemas.microsoft.com/office/drawing/2014/main" val="297121189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lang="en-GB" sz="1000" dirty="0"/>
                        <a:t>blue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5160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160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-0.96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160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160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00" dirty="0"/>
                    </a:p>
                  </a:txBody>
                  <a:tcPr anchor="ctr">
                    <a:lnL w="19050" cap="flat" cmpd="sng" algn="ctr">
                      <a:solidFill>
                        <a:srgbClr val="5160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EDF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More Likely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2870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000" dirty="0"/>
                        <a:t>clear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5160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-1.60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160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00" dirty="0"/>
                    </a:p>
                  </a:txBody>
                  <a:tcPr anchor="ctr">
                    <a:lnL w="19050" cap="flat" cmpd="sng" algn="ctr">
                      <a:solidFill>
                        <a:srgbClr val="5160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EDFB2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0" dirty="0"/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6097591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000" dirty="0"/>
                        <a:t>usually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5160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-2.47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160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00" dirty="0"/>
                    </a:p>
                  </a:txBody>
                  <a:tcPr anchor="ctr">
                    <a:lnL w="19050" cap="flat" cmpd="sng" algn="ctr">
                      <a:solidFill>
                        <a:srgbClr val="5160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EDFB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0" dirty="0"/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5656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000" dirty="0"/>
                        <a:t>green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5160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rgbClr val="5160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-3.40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160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5160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00" dirty="0"/>
                    </a:p>
                  </a:txBody>
                  <a:tcPr anchor="ctr">
                    <a:lnL w="19050" cap="flat" cmpd="sng" algn="ctr">
                      <a:solidFill>
                        <a:srgbClr val="5160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EDFB2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Less Likely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080862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0" descr="Abstract AI command centre background">
            <a:extLst>
              <a:ext uri="{FF2B5EF4-FFF2-40B4-BE49-F238E27FC236}">
                <a16:creationId xmlns:a16="http://schemas.microsoft.com/office/drawing/2014/main" id="{ED12B177-1DF9-CA5A-F4A8-B99463F5812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6000"/>
          </a:blip>
          <a:srcRect t="9111" b="911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033">
              <a:alpha val="75000"/>
            </a:srgbClr>
          </a:solidFill>
          <a:ln w="12700">
            <a:solidFill>
              <a:srgbClr val="1620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3200400" cy="0"/>
          </a:xfrm>
          <a:prstGeom prst="line">
            <a:avLst/>
          </a:prstGeom>
          <a:noFill/>
          <a:ln w="152400">
            <a:solidFill>
              <a:srgbClr val="FF6363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8671560" y="6062472"/>
            <a:ext cx="3520440" cy="0"/>
          </a:xfrm>
          <a:prstGeom prst="line">
            <a:avLst/>
          </a:prstGeom>
          <a:noFill/>
          <a:ln w="152400">
            <a:solidFill>
              <a:srgbClr val="63C7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77240" y="720489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BIG RULE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1924812"/>
            <a:ext cx="609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Vague prompt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844540" y="188823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63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=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096000" y="1924812"/>
            <a:ext cx="609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Vague answer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914400" y="3429000"/>
            <a:ext cx="10241280" cy="0"/>
          </a:xfrm>
          <a:prstGeom prst="line">
            <a:avLst/>
          </a:prstGeom>
          <a:noFill/>
          <a:ln w="1651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0" y="3977640"/>
            <a:ext cx="609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1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Clear prompt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844540" y="393192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63C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=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096000" y="3977640"/>
            <a:ext cx="609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1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Useful answer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0" y="5125212"/>
            <a:ext cx="1219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50" dirty="0">
                <a:solidFill>
                  <a:srgbClr val="D9E0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answer is weak, upgrade the instructions before blaming the tool.</a:t>
            </a:r>
            <a:endParaRPr lang="en-US" sz="1750" dirty="0"/>
          </a:p>
        </p:txBody>
      </p:sp>
      <p:sp>
        <p:nvSpPr>
          <p:cNvPr id="14" name="Shape 0">
            <a:extLst>
              <a:ext uri="{FF2B5EF4-FFF2-40B4-BE49-F238E27FC236}">
                <a16:creationId xmlns:a16="http://schemas.microsoft.com/office/drawing/2014/main" id="{821A8F38-2173-C901-E175-5CC5E584C64A}"/>
              </a:ext>
            </a:extLst>
          </p:cNvPr>
          <p:cNvSpPr/>
          <p:nvPr/>
        </p:nvSpPr>
        <p:spPr>
          <a:xfrm>
            <a:off x="10424160" y="256032"/>
            <a:ext cx="1005840" cy="0"/>
          </a:xfrm>
          <a:prstGeom prst="line">
            <a:avLst/>
          </a:prstGeom>
          <a:noFill/>
          <a:ln w="63500">
            <a:solidFill>
              <a:srgbClr val="FF6363">
                <a:alpha val="78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1C4C1091-A8C2-E0B2-3448-A810DE32DCF1}"/>
              </a:ext>
            </a:extLst>
          </p:cNvPr>
          <p:cNvSpPr/>
          <p:nvPr/>
        </p:nvSpPr>
        <p:spPr>
          <a:xfrm>
            <a:off x="11064240" y="502920"/>
            <a:ext cx="502920" cy="0"/>
          </a:xfrm>
          <a:prstGeom prst="line">
            <a:avLst/>
          </a:prstGeom>
          <a:noFill/>
          <a:ln w="63500">
            <a:solidFill>
              <a:srgbClr val="FFD166">
                <a:alpha val="9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256032"/>
            <a:ext cx="1005840" cy="0"/>
          </a:xfrm>
          <a:prstGeom prst="line">
            <a:avLst/>
          </a:prstGeom>
          <a:noFill/>
          <a:ln w="63500">
            <a:solidFill>
              <a:srgbClr val="FF6363">
                <a:alpha val="78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064240" y="502920"/>
            <a:ext cx="502920" cy="0"/>
          </a:xfrm>
          <a:prstGeom prst="line">
            <a:avLst/>
          </a:prstGeom>
          <a:noFill/>
          <a:ln w="63500">
            <a:solidFill>
              <a:srgbClr val="FFD166">
                <a:alpha val="9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594360" y="374904"/>
            <a:ext cx="411480" cy="0"/>
          </a:xfrm>
          <a:prstGeom prst="line">
            <a:avLst/>
          </a:prstGeom>
          <a:noFill/>
          <a:ln w="38100">
            <a:solidFill>
              <a:srgbClr val="FF63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06424" y="30175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3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CHECKLIST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GCSCE prompt framework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21792" y="13716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160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Goal. Context. Specifics. Constraints. Evaluate. A cheat code for better prompts.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6473952"/>
            <a:ext cx="9692640" cy="0"/>
          </a:xfrm>
          <a:prstGeom prst="line">
            <a:avLst/>
          </a:prstGeom>
          <a:noFill/>
          <a:ln w="12700">
            <a:solidFill>
              <a:srgbClr val="D8DC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94360" y="659282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160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Prompting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972800" y="657453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GB" sz="1000">
                <a:solidFill>
                  <a:srgbClr val="182438"/>
                </a:solidFill>
                <a:latin typeface="Aptos"/>
              </a:rPr>
              <a:t>08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A7AAE10-6A43-5B54-DDF6-E57D28CEBED3}"/>
              </a:ext>
            </a:extLst>
          </p:cNvPr>
          <p:cNvGrpSpPr/>
          <p:nvPr/>
        </p:nvGrpSpPr>
        <p:grpSpPr>
          <a:xfrm>
            <a:off x="621792" y="2464308"/>
            <a:ext cx="1773936" cy="2286000"/>
            <a:chOff x="621792" y="2084832"/>
            <a:chExt cx="1773936" cy="2286000"/>
          </a:xfrm>
        </p:grpSpPr>
        <p:sp>
          <p:nvSpPr>
            <p:cNvPr id="11" name="Shape 9"/>
            <p:cNvSpPr/>
            <p:nvPr/>
          </p:nvSpPr>
          <p:spPr>
            <a:xfrm>
              <a:off x="914400" y="2084832"/>
              <a:ext cx="1170432" cy="1097280"/>
            </a:xfrm>
            <a:prstGeom prst="arc">
              <a:avLst/>
            </a:prstGeom>
            <a:noFill/>
            <a:ln w="50800">
              <a:solidFill>
                <a:srgbClr val="2478FF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 10"/>
            <p:cNvSpPr/>
            <p:nvPr/>
          </p:nvSpPr>
          <p:spPr>
            <a:xfrm>
              <a:off x="1014984" y="2375697"/>
              <a:ext cx="987552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3800" b="1" dirty="0">
                  <a:solidFill>
                    <a:srgbClr val="2478FF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G</a:t>
              </a:r>
              <a:endParaRPr lang="en-US" sz="38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658368" y="3273552"/>
              <a:ext cx="1700784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16203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Goal</a:t>
              </a:r>
              <a:endParaRPr lang="en-US" sz="20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621792" y="3712464"/>
              <a:ext cx="1773936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30" dirty="0">
                  <a:solidFill>
                    <a:srgbClr val="51607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What am I asking for?</a:t>
              </a:r>
              <a:endParaRPr lang="en-US" sz="143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F7B89CD-0C9A-4E33-93F4-ACB0178D14F6}"/>
              </a:ext>
            </a:extLst>
          </p:cNvPr>
          <p:cNvGrpSpPr/>
          <p:nvPr/>
        </p:nvGrpSpPr>
        <p:grpSpPr>
          <a:xfrm>
            <a:off x="2880360" y="2464308"/>
            <a:ext cx="1773936" cy="2286000"/>
            <a:chOff x="2880360" y="2084832"/>
            <a:chExt cx="1773936" cy="2286000"/>
          </a:xfrm>
        </p:grpSpPr>
        <p:sp>
          <p:nvSpPr>
            <p:cNvPr id="15" name="Shape 13"/>
            <p:cNvSpPr/>
            <p:nvPr/>
          </p:nvSpPr>
          <p:spPr>
            <a:xfrm>
              <a:off x="3172968" y="2084832"/>
              <a:ext cx="1170432" cy="1097280"/>
            </a:xfrm>
            <a:prstGeom prst="arc">
              <a:avLst/>
            </a:prstGeom>
            <a:noFill/>
            <a:ln w="50800">
              <a:solidFill>
                <a:srgbClr val="FF6363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 14"/>
            <p:cNvSpPr/>
            <p:nvPr/>
          </p:nvSpPr>
          <p:spPr>
            <a:xfrm>
              <a:off x="3273552" y="2375697"/>
              <a:ext cx="987552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3800" b="1" dirty="0">
                  <a:solidFill>
                    <a:srgbClr val="FF636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C</a:t>
              </a:r>
              <a:endParaRPr lang="en-US" sz="38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2916936" y="3273552"/>
              <a:ext cx="1700784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16203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Context</a:t>
              </a:r>
              <a:endParaRPr lang="en-US" sz="20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2880360" y="3712464"/>
              <a:ext cx="1773936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30" dirty="0">
                  <a:solidFill>
                    <a:srgbClr val="51607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What does AI need to know?</a:t>
              </a:r>
              <a:endParaRPr lang="en-US" sz="143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9E72706-8B16-A7A8-ABB5-6A3BE3BD6038}"/>
              </a:ext>
            </a:extLst>
          </p:cNvPr>
          <p:cNvGrpSpPr/>
          <p:nvPr/>
        </p:nvGrpSpPr>
        <p:grpSpPr>
          <a:xfrm>
            <a:off x="5209032" y="2464308"/>
            <a:ext cx="1773936" cy="2286000"/>
            <a:chOff x="5138928" y="2084832"/>
            <a:chExt cx="1773936" cy="2286000"/>
          </a:xfrm>
        </p:grpSpPr>
        <p:sp>
          <p:nvSpPr>
            <p:cNvPr id="19" name="Shape 17"/>
            <p:cNvSpPr/>
            <p:nvPr/>
          </p:nvSpPr>
          <p:spPr>
            <a:xfrm>
              <a:off x="5431536" y="2084832"/>
              <a:ext cx="1170432" cy="1097280"/>
            </a:xfrm>
            <a:prstGeom prst="arc">
              <a:avLst/>
            </a:prstGeom>
            <a:noFill/>
            <a:ln w="50800">
              <a:solidFill>
                <a:srgbClr val="7EDFB2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Text 18"/>
            <p:cNvSpPr/>
            <p:nvPr/>
          </p:nvSpPr>
          <p:spPr>
            <a:xfrm>
              <a:off x="5532120" y="2375697"/>
              <a:ext cx="987552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3800" b="1" dirty="0">
                  <a:solidFill>
                    <a:srgbClr val="7EDFB2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S</a:t>
              </a:r>
              <a:endParaRPr lang="en-US" sz="38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5175504" y="3273552"/>
              <a:ext cx="1700784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16203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Specifics</a:t>
              </a:r>
              <a:endParaRPr lang="en-US" sz="20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5138928" y="3712464"/>
              <a:ext cx="1773936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30" dirty="0">
                  <a:solidFill>
                    <a:srgbClr val="51607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What should be included?</a:t>
              </a:r>
              <a:endParaRPr lang="en-US" sz="1430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98F6EED-E430-BF40-1245-C2B96C434C99}"/>
              </a:ext>
            </a:extLst>
          </p:cNvPr>
          <p:cNvGrpSpPr/>
          <p:nvPr/>
        </p:nvGrpSpPr>
        <p:grpSpPr>
          <a:xfrm>
            <a:off x="7397496" y="2464308"/>
            <a:ext cx="1773936" cy="2286000"/>
            <a:chOff x="7397496" y="2084832"/>
            <a:chExt cx="1773936" cy="2286000"/>
          </a:xfrm>
        </p:grpSpPr>
        <p:sp>
          <p:nvSpPr>
            <p:cNvPr id="23" name="Shape 21"/>
            <p:cNvSpPr/>
            <p:nvPr/>
          </p:nvSpPr>
          <p:spPr>
            <a:xfrm>
              <a:off x="7690104" y="2084832"/>
              <a:ext cx="1170432" cy="1097280"/>
            </a:xfrm>
            <a:prstGeom prst="arc">
              <a:avLst/>
            </a:prstGeom>
            <a:noFill/>
            <a:ln w="50800">
              <a:solidFill>
                <a:srgbClr val="FFD166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Text 22"/>
            <p:cNvSpPr/>
            <p:nvPr/>
          </p:nvSpPr>
          <p:spPr>
            <a:xfrm>
              <a:off x="7790688" y="2375697"/>
              <a:ext cx="987552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3800" b="1" dirty="0">
                  <a:solidFill>
                    <a:srgbClr val="FFD166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C</a:t>
              </a:r>
              <a:endParaRPr lang="en-US" sz="38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7434072" y="3273552"/>
              <a:ext cx="1700784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16203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Constraints</a:t>
              </a:r>
              <a:endParaRPr lang="en-US" sz="20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7397496" y="3712464"/>
              <a:ext cx="1773936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30" dirty="0">
                  <a:solidFill>
                    <a:srgbClr val="51607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How long, tone, format?</a:t>
              </a:r>
              <a:endParaRPr lang="en-US" sz="143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7617142-A962-6568-B9AE-D39081EBE5A2}"/>
              </a:ext>
            </a:extLst>
          </p:cNvPr>
          <p:cNvGrpSpPr/>
          <p:nvPr/>
        </p:nvGrpSpPr>
        <p:grpSpPr>
          <a:xfrm>
            <a:off x="9656064" y="2464308"/>
            <a:ext cx="1773936" cy="2286000"/>
            <a:chOff x="9656064" y="2084832"/>
            <a:chExt cx="1773936" cy="2286000"/>
          </a:xfrm>
        </p:grpSpPr>
        <p:sp>
          <p:nvSpPr>
            <p:cNvPr id="27" name="Shape 25"/>
            <p:cNvSpPr/>
            <p:nvPr/>
          </p:nvSpPr>
          <p:spPr>
            <a:xfrm>
              <a:off x="9948672" y="2084832"/>
              <a:ext cx="1170432" cy="1097280"/>
            </a:xfrm>
            <a:prstGeom prst="arc">
              <a:avLst/>
            </a:prstGeom>
            <a:noFill/>
            <a:ln w="5080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Text 26"/>
            <p:cNvSpPr/>
            <p:nvPr/>
          </p:nvSpPr>
          <p:spPr>
            <a:xfrm>
              <a:off x="10049256" y="2375697"/>
              <a:ext cx="987552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3800" b="1" dirty="0">
                  <a:solidFill>
                    <a:srgbClr val="A78BFA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E</a:t>
              </a:r>
              <a:endParaRPr lang="en-US" sz="38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9692640" y="3273552"/>
              <a:ext cx="1700784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16203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Evaluate</a:t>
              </a:r>
              <a:endParaRPr lang="en-US" sz="20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9656064" y="3712464"/>
              <a:ext cx="1773936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30" dirty="0">
                  <a:solidFill>
                    <a:srgbClr val="51607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How can it improve?</a:t>
              </a:r>
              <a:endParaRPr lang="en-US" sz="1430" dirty="0"/>
            </a:p>
          </p:txBody>
        </p:sp>
      </p:grpSp>
      <p:sp>
        <p:nvSpPr>
          <p:cNvPr id="32" name="Text 30"/>
          <p:cNvSpPr/>
          <p:nvPr/>
        </p:nvSpPr>
        <p:spPr>
          <a:xfrm>
            <a:off x="0" y="5385816"/>
            <a:ext cx="12192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AI is vague, add one missing GCSE piece.</a:t>
            </a:r>
            <a:endParaRPr lang="en-US" sz="2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256032"/>
            <a:ext cx="1005840" cy="0"/>
          </a:xfrm>
          <a:prstGeom prst="line">
            <a:avLst/>
          </a:prstGeom>
          <a:noFill/>
          <a:ln w="63500">
            <a:solidFill>
              <a:srgbClr val="FF6363">
                <a:alpha val="78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064240" y="502920"/>
            <a:ext cx="502920" cy="0"/>
          </a:xfrm>
          <a:prstGeom prst="line">
            <a:avLst/>
          </a:prstGeom>
          <a:noFill/>
          <a:ln w="63500">
            <a:solidFill>
              <a:srgbClr val="FFD166">
                <a:alpha val="9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594360" y="374904"/>
            <a:ext cx="411480" cy="0"/>
          </a:xfrm>
          <a:prstGeom prst="line">
            <a:avLst/>
          </a:prstGeom>
          <a:noFill/>
          <a:ln w="38100">
            <a:solidFill>
              <a:srgbClr val="7EDF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06424" y="30175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EDF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LEVEL 1</a:t>
            </a:r>
            <a:endParaRPr lang="en-US" sz="1050" dirty="0">
              <a:solidFill>
                <a:srgbClr val="7EDFB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Basic prompting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21792" y="13716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160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by asking clearly.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6473952"/>
            <a:ext cx="9692640" cy="0"/>
          </a:xfrm>
          <a:prstGeom prst="line">
            <a:avLst/>
          </a:prstGeom>
          <a:noFill/>
          <a:ln w="12700">
            <a:solidFill>
              <a:srgbClr val="D8DC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94360" y="659282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160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Prompting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972800" y="657453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GB" sz="1000">
                <a:solidFill>
                  <a:srgbClr val="182438"/>
                </a:solidFill>
                <a:latin typeface="Aptos"/>
              </a:rPr>
              <a:t>09</a:t>
            </a:r>
          </a:p>
        </p:txBody>
      </p:sp>
      <p:sp>
        <p:nvSpPr>
          <p:cNvPr id="11" name="Text 9"/>
          <p:cNvSpPr/>
          <p:nvPr/>
        </p:nvSpPr>
        <p:spPr>
          <a:xfrm>
            <a:off x="822960" y="209397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47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Basic = one clear task</a:t>
            </a:r>
            <a:endParaRPr lang="en-US" sz="31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E8EDC71-D168-AA4A-C750-0ED274D6F9DF}"/>
              </a:ext>
            </a:extLst>
          </p:cNvPr>
          <p:cNvGrpSpPr/>
          <p:nvPr/>
        </p:nvGrpSpPr>
        <p:grpSpPr>
          <a:xfrm>
            <a:off x="914400" y="3122676"/>
            <a:ext cx="4572000" cy="1051560"/>
            <a:chOff x="914400" y="2798064"/>
            <a:chExt cx="4572000" cy="1051560"/>
          </a:xfrm>
        </p:grpSpPr>
        <p:sp>
          <p:nvSpPr>
            <p:cNvPr id="12" name="Shape 10"/>
            <p:cNvSpPr/>
            <p:nvPr/>
          </p:nvSpPr>
          <p:spPr>
            <a:xfrm>
              <a:off x="914400" y="2798064"/>
              <a:ext cx="4572000" cy="105156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12700">
              <a:solidFill>
                <a:srgbClr val="2478FF"/>
              </a:solidFill>
              <a:prstDash val="solid"/>
            </a:ln>
            <a:effectLst>
              <a:outerShdw blurRad="15240" dist="762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 11"/>
            <p:cNvSpPr/>
            <p:nvPr/>
          </p:nvSpPr>
          <p:spPr>
            <a:xfrm>
              <a:off x="1115568" y="2916936"/>
              <a:ext cx="42062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478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PROMPT</a:t>
              </a:r>
              <a:endParaRPr lang="en-US" sz="105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1143000" y="3236976"/>
              <a:ext cx="4114800" cy="45720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 fontScale="92500" lnSpcReduction="20000"/>
            </a:bodyPr>
            <a:lstStyle/>
            <a:p>
              <a:pPr marL="0" indent="0">
                <a:buNone/>
              </a:pPr>
              <a:r>
                <a:rPr lang="en-US" sz="1900" dirty="0">
                  <a:solidFill>
                    <a:srgbClr val="162033"/>
                  </a:solidFill>
                  <a:latin typeface="Aptos Mono" pitchFamily="34" charset="0"/>
                  <a:ea typeface="Aptos Mono" pitchFamily="34" charset="-122"/>
                  <a:cs typeface="Aptos Mono" pitchFamily="34" charset="-120"/>
                </a:rPr>
                <a:t>Explain photosynthesis in simple terms.</a:t>
              </a:r>
              <a:endParaRPr lang="en-US" sz="1900" dirty="0"/>
            </a:p>
          </p:txBody>
        </p:sp>
      </p:grpSp>
      <p:sp>
        <p:nvSpPr>
          <p:cNvPr id="15" name="Text 13"/>
          <p:cNvSpPr/>
          <p:nvPr/>
        </p:nvSpPr>
        <p:spPr>
          <a:xfrm>
            <a:off x="914400" y="476402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160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for: quick explanations, simple ideas, first drafts.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55664" y="1737360"/>
            <a:ext cx="0" cy="3886200"/>
          </a:xfrm>
          <a:prstGeom prst="line">
            <a:avLst/>
          </a:prstGeom>
          <a:noFill/>
          <a:ln w="15240">
            <a:solidFill>
              <a:srgbClr val="D8DC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995160" y="20756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63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But…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995160" y="281406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still has to guess: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967728" y="3387852"/>
            <a:ext cx="2331720" cy="347472"/>
          </a:xfrm>
          <a:prstGeom prst="roundRect">
            <a:avLst>
              <a:gd name="adj" fmla="val 31579"/>
            </a:avLst>
          </a:prstGeom>
          <a:solidFill>
            <a:srgbClr val="FFEBD2"/>
          </a:solidFill>
          <a:ln w="12700">
            <a:solidFill>
              <a:srgbClr val="FFEBD2">
                <a:alpha val="0"/>
              </a:srgbClr>
            </a:solidFill>
            <a:prstDash val="solid"/>
          </a:ln>
        </p:spPr>
        <p:txBody>
          <a:bodyPr anchor="ctr"/>
          <a:lstStyle/>
          <a:p>
            <a:r>
              <a:rPr lang="en-GB" sz="1300" b="1" dirty="0"/>
              <a:t>Your level</a:t>
            </a:r>
          </a:p>
        </p:txBody>
      </p:sp>
      <p:sp>
        <p:nvSpPr>
          <p:cNvPr id="21" name="Shape 19"/>
          <p:cNvSpPr/>
          <p:nvPr/>
        </p:nvSpPr>
        <p:spPr>
          <a:xfrm>
            <a:off x="6967728" y="3918204"/>
            <a:ext cx="2331720" cy="347472"/>
          </a:xfrm>
          <a:prstGeom prst="roundRect">
            <a:avLst>
              <a:gd name="adj" fmla="val 31579"/>
            </a:avLst>
          </a:prstGeom>
          <a:solidFill>
            <a:srgbClr val="FFE1DD"/>
          </a:solidFill>
          <a:ln w="12700">
            <a:solidFill>
              <a:srgbClr val="FFE1DD">
                <a:alpha val="0"/>
              </a:srgbClr>
            </a:solidFill>
            <a:prstDash val="solid"/>
          </a:ln>
        </p:spPr>
        <p:txBody>
          <a:bodyPr anchor="ctr"/>
          <a:lstStyle/>
          <a:p>
            <a:r>
              <a:rPr lang="en-GB" sz="1300" b="1" dirty="0"/>
              <a:t>The format</a:t>
            </a:r>
          </a:p>
        </p:txBody>
      </p:sp>
      <p:sp>
        <p:nvSpPr>
          <p:cNvPr id="23" name="Shape 21"/>
          <p:cNvSpPr/>
          <p:nvPr/>
        </p:nvSpPr>
        <p:spPr>
          <a:xfrm>
            <a:off x="6967728" y="4448556"/>
            <a:ext cx="2331720" cy="347472"/>
          </a:xfrm>
          <a:prstGeom prst="roundRect">
            <a:avLst>
              <a:gd name="adj" fmla="val 31579"/>
            </a:avLst>
          </a:prstGeom>
          <a:solidFill>
            <a:srgbClr val="DFF7FF"/>
          </a:solidFill>
          <a:ln w="12700">
            <a:solidFill>
              <a:srgbClr val="DFF7FF">
                <a:alpha val="0"/>
              </a:srgbClr>
            </a:solidFill>
            <a:prstDash val="solid"/>
          </a:ln>
        </p:spPr>
        <p:txBody>
          <a:bodyPr anchor="ctr"/>
          <a:lstStyle/>
          <a:p>
            <a:r>
              <a:rPr lang="en-GB" sz="1300" b="1" dirty="0"/>
              <a:t>How detailed</a:t>
            </a:r>
          </a:p>
        </p:txBody>
      </p:sp>
      <p:sp>
        <p:nvSpPr>
          <p:cNvPr id="25" name="Shape 23"/>
          <p:cNvSpPr/>
          <p:nvPr/>
        </p:nvSpPr>
        <p:spPr>
          <a:xfrm>
            <a:off x="6967728" y="4978908"/>
            <a:ext cx="2331720" cy="347472"/>
          </a:xfrm>
          <a:prstGeom prst="roundRect">
            <a:avLst>
              <a:gd name="adj" fmla="val 31579"/>
            </a:avLst>
          </a:prstGeom>
          <a:solidFill>
            <a:srgbClr val="E8F8EF"/>
          </a:solidFill>
          <a:ln w="12700">
            <a:solidFill>
              <a:srgbClr val="E8F8EF">
                <a:alpha val="0"/>
              </a:srgbClr>
            </a:solidFill>
            <a:prstDash val="solid"/>
          </a:ln>
        </p:spPr>
        <p:txBody>
          <a:bodyPr anchor="ctr"/>
          <a:lstStyle/>
          <a:p>
            <a:r>
              <a:rPr lang="en-GB" sz="1300" b="1" dirty="0"/>
              <a:t>What to include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256032"/>
            <a:ext cx="1005840" cy="0"/>
          </a:xfrm>
          <a:prstGeom prst="line">
            <a:avLst/>
          </a:prstGeom>
          <a:noFill/>
          <a:ln w="63500">
            <a:solidFill>
              <a:srgbClr val="FF6363">
                <a:alpha val="78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064240" y="502920"/>
            <a:ext cx="502920" cy="0"/>
          </a:xfrm>
          <a:prstGeom prst="line">
            <a:avLst/>
          </a:prstGeom>
          <a:noFill/>
          <a:ln w="63500">
            <a:solidFill>
              <a:srgbClr val="FFD166">
                <a:alpha val="9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594360" y="374904"/>
            <a:ext cx="411480" cy="0"/>
          </a:xfrm>
          <a:prstGeom prst="line">
            <a:avLst/>
          </a:prstGeom>
          <a:noFill/>
          <a:ln w="381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06424" y="30175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LEVEL 2</a:t>
            </a:r>
            <a:endParaRPr lang="en-US" sz="1050" dirty="0">
              <a:solidFill>
                <a:srgbClr val="FFD166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Intermediate prompting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21792" y="13716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rgbClr val="526884"/>
                </a:solidFill>
                <a:latin typeface="Aptos"/>
              </a:rPr>
              <a:t>Use Goal, Context, Specifics, Constraints and Evaluate.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6473952"/>
            <a:ext cx="9692640" cy="0"/>
          </a:xfrm>
          <a:prstGeom prst="line">
            <a:avLst/>
          </a:prstGeom>
          <a:noFill/>
          <a:ln w="12700">
            <a:solidFill>
              <a:srgbClr val="D8DC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94360" y="659282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160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Prompting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972800" y="657453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GB" sz="1000">
                <a:solidFill>
                  <a:srgbClr val="182438"/>
                </a:solidFill>
                <a:latin typeface="Aptos"/>
              </a:rPr>
              <a:t>10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2042A58-E16E-B268-4C0E-1539CAFC2655}"/>
              </a:ext>
            </a:extLst>
          </p:cNvPr>
          <p:cNvGrpSpPr/>
          <p:nvPr/>
        </p:nvGrpSpPr>
        <p:grpSpPr>
          <a:xfrm>
            <a:off x="804672" y="2775205"/>
            <a:ext cx="2880360" cy="822960"/>
            <a:chOff x="804672" y="1828800"/>
            <a:chExt cx="2880360" cy="822960"/>
          </a:xfrm>
        </p:grpSpPr>
        <p:sp>
          <p:nvSpPr>
            <p:cNvPr id="11" name="Shape 9"/>
            <p:cNvSpPr/>
            <p:nvPr/>
          </p:nvSpPr>
          <p:spPr>
            <a:xfrm>
              <a:off x="804672" y="1828800"/>
              <a:ext cx="2880360" cy="822960"/>
            </a:xfrm>
            <a:prstGeom prst="roundRect">
              <a:avLst>
                <a:gd name="adj" fmla="val 8889"/>
              </a:avLst>
            </a:prstGeom>
            <a:solidFill>
              <a:srgbClr val="FFF7F2"/>
            </a:solidFill>
            <a:ln w="12700">
              <a:solidFill>
                <a:srgbClr val="FF6363"/>
              </a:solidFill>
              <a:prstDash val="solid"/>
            </a:ln>
            <a:effectLst>
              <a:outerShdw blurRad="15240" dist="762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 10"/>
            <p:cNvSpPr/>
            <p:nvPr/>
          </p:nvSpPr>
          <p:spPr>
            <a:xfrm>
              <a:off x="1005840" y="1947672"/>
              <a:ext cx="25146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636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START</a:t>
              </a:r>
              <a:endParaRPr lang="en-US" sz="105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1033272" y="2267712"/>
              <a:ext cx="2423160" cy="22860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 fontScale="85000" lnSpcReduction="10000"/>
            </a:bodyPr>
            <a:lstStyle/>
            <a:p>
              <a:pPr marL="0" indent="0">
                <a:buNone/>
              </a:pPr>
              <a:r>
                <a:rPr lang="en-US" sz="1650" dirty="0">
                  <a:solidFill>
                    <a:srgbClr val="162033"/>
                  </a:solidFill>
                  <a:latin typeface="Aptos Mono" pitchFamily="34" charset="0"/>
                  <a:ea typeface="Aptos Mono" pitchFamily="34" charset="-122"/>
                  <a:cs typeface="Aptos Mono" pitchFamily="34" charset="-120"/>
                </a:rPr>
                <a:t>Explain photosynthesis</a:t>
              </a:r>
              <a:endParaRPr lang="en-US" sz="1650" dirty="0"/>
            </a:p>
          </p:txBody>
        </p:sp>
      </p:grpSp>
      <p:sp>
        <p:nvSpPr>
          <p:cNvPr id="14" name="Text 12"/>
          <p:cNvSpPr/>
          <p:nvPr/>
        </p:nvSpPr>
        <p:spPr>
          <a:xfrm>
            <a:off x="3767328" y="28803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47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3000" dirty="0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3DCB1C7-7E2F-A512-3FC3-25516CE971EA}"/>
              </a:ext>
            </a:extLst>
          </p:cNvPr>
          <p:cNvGrpSpPr/>
          <p:nvPr/>
        </p:nvGrpSpPr>
        <p:grpSpPr>
          <a:xfrm>
            <a:off x="4434840" y="2324863"/>
            <a:ext cx="6263640" cy="1828800"/>
            <a:chOff x="4434840" y="2176272"/>
            <a:chExt cx="6263640" cy="1828800"/>
          </a:xfrm>
        </p:grpSpPr>
        <p:sp>
          <p:nvSpPr>
            <p:cNvPr id="36" name="Rounded Rectangle 35"/>
            <p:cNvSpPr/>
            <p:nvPr/>
          </p:nvSpPr>
          <p:spPr>
            <a:xfrm>
              <a:off x="4434840" y="2176272"/>
              <a:ext cx="6263640" cy="1828800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2478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645152" y="2331720"/>
              <a:ext cx="3017520" cy="198516"/>
            </a:xfrm>
            <a:prstGeom prst="rect">
              <a:avLst/>
            </a:prstGeom>
            <a:noFill/>
          </p:spPr>
          <p:txBody>
            <a:bodyPr wrap="square" lIns="27432" tIns="18288" rIns="27432" bIns="18288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050" b="1" dirty="0">
                  <a:solidFill>
                    <a:srgbClr val="2478FF"/>
                  </a:solidFill>
                  <a:latin typeface="Aptos"/>
                </a:rPr>
                <a:t>UPGRADED PROMPT 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663440" y="2633472"/>
              <a:ext cx="5715000" cy="115416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200"/>
                </a:spcAft>
              </a:pPr>
              <a:r>
                <a:rPr sz="1400" dirty="0">
                  <a:solidFill>
                    <a:srgbClr val="162033"/>
                  </a:solidFill>
                  <a:latin typeface="Aptos Mono" panose="020B0009020202020204" pitchFamily="49" charset="0"/>
                </a:rPr>
                <a:t>Create a </a:t>
              </a:r>
              <a:r>
                <a:rPr sz="1400" b="1" dirty="0">
                  <a:solidFill>
                    <a:srgbClr val="2478FF"/>
                  </a:solidFill>
                  <a:latin typeface="Aptos Mono" panose="020B0009020202020204" pitchFamily="49" charset="0"/>
                </a:rPr>
                <a:t>GCSE revision summary about photosynthesis </a:t>
              </a:r>
              <a:r>
                <a:rPr sz="1400" dirty="0">
                  <a:solidFill>
                    <a:srgbClr val="162033"/>
                  </a:solidFill>
                  <a:latin typeface="Aptos Mono" panose="020B0009020202020204" pitchFamily="49" charset="0"/>
                </a:rPr>
                <a:t>for a </a:t>
              </a:r>
              <a:r>
                <a:rPr sz="1400" b="1" dirty="0">
                  <a:solidFill>
                    <a:srgbClr val="FF6363"/>
                  </a:solidFill>
                  <a:latin typeface="Aptos Mono" panose="020B0009020202020204" pitchFamily="49" charset="0"/>
                </a:rPr>
                <a:t>16-year-old Biology student</a:t>
              </a:r>
              <a:r>
                <a:rPr sz="1400" dirty="0">
                  <a:solidFill>
                    <a:srgbClr val="162033"/>
                  </a:solidFill>
                  <a:latin typeface="Aptos Mono" panose="020B0009020202020204" pitchFamily="49" charset="0"/>
                </a:rPr>
                <a:t>.</a:t>
              </a:r>
            </a:p>
            <a:p>
              <a:pPr>
                <a:spcAft>
                  <a:spcPts val="200"/>
                </a:spcAft>
              </a:pPr>
              <a:r>
                <a:rPr sz="1400" dirty="0">
                  <a:solidFill>
                    <a:srgbClr val="162033"/>
                  </a:solidFill>
                  <a:latin typeface="Aptos Mono" panose="020B0009020202020204" pitchFamily="49" charset="0"/>
                </a:rPr>
                <a:t>Include </a:t>
              </a:r>
              <a:r>
                <a:rPr sz="1400" b="1" dirty="0">
                  <a:solidFill>
                    <a:srgbClr val="7EDFB2"/>
                  </a:solidFill>
                  <a:latin typeface="Aptos Mono" panose="020B0009020202020204" pitchFamily="49" charset="0"/>
                </a:rPr>
                <a:t>inputs, outputs</a:t>
              </a:r>
              <a:r>
                <a:rPr sz="1400" dirty="0">
                  <a:solidFill>
                    <a:srgbClr val="162033"/>
                  </a:solidFill>
                  <a:latin typeface="Aptos Mono" panose="020B0009020202020204" pitchFamily="49" charset="0"/>
                </a:rPr>
                <a:t> and why it matters.</a:t>
              </a:r>
            </a:p>
            <a:p>
              <a:pPr>
                <a:spcAft>
                  <a:spcPts val="200"/>
                </a:spcAft>
              </a:pPr>
              <a:r>
                <a:rPr sz="1400" dirty="0">
                  <a:solidFill>
                    <a:srgbClr val="162033"/>
                  </a:solidFill>
                  <a:latin typeface="Aptos Mono" panose="020B0009020202020204" pitchFamily="49" charset="0"/>
                </a:rPr>
                <a:t>Use </a:t>
              </a:r>
              <a:r>
                <a:rPr sz="1400" b="1" dirty="0">
                  <a:solidFill>
                    <a:srgbClr val="FFD166"/>
                  </a:solidFill>
                  <a:latin typeface="Aptos Mono" panose="020B0009020202020204" pitchFamily="49" charset="0"/>
                </a:rPr>
                <a:t>simple language, bullet points and max 150 words</a:t>
              </a:r>
              <a:r>
                <a:rPr sz="1400" dirty="0">
                  <a:solidFill>
                    <a:srgbClr val="162033"/>
                  </a:solidFill>
                  <a:latin typeface="Aptos Mono" panose="020B0009020202020204" pitchFamily="49" charset="0"/>
                </a:rPr>
                <a:t>.</a:t>
              </a:r>
            </a:p>
            <a:p>
              <a:pPr>
                <a:spcAft>
                  <a:spcPts val="200"/>
                </a:spcAft>
              </a:pPr>
              <a:r>
                <a:rPr sz="1400" dirty="0">
                  <a:solidFill>
                    <a:srgbClr val="162033"/>
                  </a:solidFill>
                  <a:latin typeface="Aptos Mono" panose="020B0009020202020204" pitchFamily="49" charset="0"/>
                </a:rPr>
                <a:t>Finish with one </a:t>
              </a:r>
              <a:r>
                <a:rPr sz="1400" b="1" dirty="0">
                  <a:solidFill>
                    <a:srgbClr val="A78BFA"/>
                  </a:solidFill>
                  <a:latin typeface="Aptos Mono" panose="020B0009020202020204" pitchFamily="49" charset="0"/>
                </a:rPr>
                <a:t>quiz question</a:t>
              </a:r>
              <a:r>
                <a:rPr sz="1400" dirty="0">
                  <a:solidFill>
                    <a:srgbClr val="162033"/>
                  </a:solidFill>
                  <a:latin typeface="Aptos Mono" panose="020B0009020202020204" pitchFamily="49" charset="0"/>
                </a:rPr>
                <a:t> to check understanding.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C3BB99C-2D77-ADE0-C864-139F80F35031}"/>
              </a:ext>
            </a:extLst>
          </p:cNvPr>
          <p:cNvGrpSpPr/>
          <p:nvPr/>
        </p:nvGrpSpPr>
        <p:grpSpPr>
          <a:xfrm>
            <a:off x="804672" y="4649725"/>
            <a:ext cx="1651500" cy="190821"/>
            <a:chOff x="804672" y="4425696"/>
            <a:chExt cx="1651500" cy="190821"/>
          </a:xfrm>
        </p:grpSpPr>
        <p:sp>
          <p:nvSpPr>
            <p:cNvPr id="39" name="Rectangle 38"/>
            <p:cNvSpPr/>
            <p:nvPr/>
          </p:nvSpPr>
          <p:spPr>
            <a:xfrm>
              <a:off x="804672" y="4562856"/>
              <a:ext cx="493776" cy="32004"/>
            </a:xfrm>
            <a:prstGeom prst="rect">
              <a:avLst/>
            </a:prstGeom>
            <a:solidFill>
              <a:srgbClr val="2478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376172" y="4425696"/>
              <a:ext cx="1080000" cy="190821"/>
            </a:xfrm>
            <a:prstGeom prst="rect">
              <a:avLst/>
            </a:prstGeom>
            <a:noFill/>
          </p:spPr>
          <p:txBody>
            <a:bodyPr wrap="square" lIns="27432" tIns="18288" rIns="27432" bIns="18288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000" b="1" dirty="0">
                  <a:solidFill>
                    <a:srgbClr val="2478FF"/>
                  </a:solidFill>
                  <a:latin typeface="Aptos"/>
                </a:rPr>
                <a:t>G</a:t>
              </a:r>
              <a:r>
                <a:rPr lang="en-GB" sz="1000" b="1" dirty="0">
                  <a:solidFill>
                    <a:srgbClr val="2478FF"/>
                  </a:solidFill>
                  <a:latin typeface="Aptos"/>
                </a:rPr>
                <a:t>OAL</a:t>
              </a:r>
              <a:endParaRPr sz="1000" b="1" dirty="0">
                <a:solidFill>
                  <a:srgbClr val="2478FF"/>
                </a:solidFill>
                <a:latin typeface="Aptos"/>
              </a:endParaRP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820422" y="5070349"/>
            <a:ext cx="1620000" cy="5293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600" b="1" dirty="0">
                <a:solidFill>
                  <a:srgbClr val="162033"/>
                </a:solidFill>
                <a:latin typeface="Aptos Display"/>
              </a:rPr>
              <a:t>GCSE revision</a:t>
            </a:r>
            <a:endParaRPr sz="1600" b="1" dirty="0">
              <a:solidFill>
                <a:srgbClr val="162033"/>
              </a:solidFill>
              <a:latin typeface="Aptos Display"/>
            </a:endParaRPr>
          </a:p>
          <a:p>
            <a:pPr algn="ctr">
              <a:spcAft>
                <a:spcPts val="0"/>
              </a:spcAft>
            </a:pPr>
            <a:r>
              <a:rPr sz="1600" b="1" dirty="0">
                <a:solidFill>
                  <a:srgbClr val="162033"/>
                </a:solidFill>
                <a:latin typeface="Aptos Display"/>
              </a:rPr>
              <a:t>summary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9A44DF5-BF9E-4825-B639-8AACCF62ED07}"/>
              </a:ext>
            </a:extLst>
          </p:cNvPr>
          <p:cNvGrpSpPr/>
          <p:nvPr/>
        </p:nvGrpSpPr>
        <p:grpSpPr>
          <a:xfrm>
            <a:off x="3005457" y="4649725"/>
            <a:ext cx="1683504" cy="190821"/>
            <a:chOff x="2880360" y="4425696"/>
            <a:chExt cx="1683504" cy="190821"/>
          </a:xfrm>
        </p:grpSpPr>
        <p:sp>
          <p:nvSpPr>
            <p:cNvPr id="43" name="Rectangle 42"/>
            <p:cNvSpPr/>
            <p:nvPr/>
          </p:nvSpPr>
          <p:spPr>
            <a:xfrm>
              <a:off x="2880360" y="4562856"/>
              <a:ext cx="493776" cy="32004"/>
            </a:xfrm>
            <a:prstGeom prst="rect">
              <a:avLst/>
            </a:prstGeom>
            <a:solidFill>
              <a:srgbClr val="FF636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483864" y="4425696"/>
              <a:ext cx="1080000" cy="190821"/>
            </a:xfrm>
            <a:prstGeom prst="rect">
              <a:avLst/>
            </a:prstGeom>
            <a:noFill/>
          </p:spPr>
          <p:txBody>
            <a:bodyPr wrap="square" lIns="27432" tIns="18288" rIns="27432" bIns="18288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000" b="1" dirty="0">
                  <a:solidFill>
                    <a:srgbClr val="FF6363"/>
                  </a:solidFill>
                  <a:latin typeface="Aptos"/>
                </a:rPr>
                <a:t>C</a:t>
              </a:r>
              <a:r>
                <a:rPr lang="en-GB" sz="1000" b="1" dirty="0">
                  <a:solidFill>
                    <a:srgbClr val="FF6363"/>
                  </a:solidFill>
                  <a:latin typeface="Aptos"/>
                </a:rPr>
                <a:t>ONTEXT</a:t>
              </a:r>
              <a:endParaRPr sz="1000" b="1" dirty="0">
                <a:solidFill>
                  <a:srgbClr val="FF6363"/>
                </a:solidFill>
                <a:latin typeface="Aptos"/>
              </a:endParaRPr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3037209" y="5070349"/>
            <a:ext cx="1620000" cy="77559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dirty="0">
                <a:solidFill>
                  <a:srgbClr val="162033"/>
                </a:solidFill>
                <a:latin typeface="Aptos Display"/>
              </a:rPr>
              <a:t>16-year-old</a:t>
            </a:r>
          </a:p>
          <a:p>
            <a:pPr algn="ctr">
              <a:spcAft>
                <a:spcPts val="0"/>
              </a:spcAft>
            </a:pPr>
            <a:r>
              <a:rPr sz="1600" b="1" dirty="0">
                <a:solidFill>
                  <a:srgbClr val="162033"/>
                </a:solidFill>
                <a:latin typeface="Aptos Display"/>
              </a:rPr>
              <a:t>GCSE Bio</a:t>
            </a:r>
            <a:r>
              <a:rPr lang="en-GB" sz="1600" b="1" dirty="0">
                <a:solidFill>
                  <a:srgbClr val="162033"/>
                </a:solidFill>
                <a:latin typeface="Aptos Display"/>
              </a:rPr>
              <a:t>log student</a:t>
            </a:r>
            <a:endParaRPr sz="1600" b="1" dirty="0">
              <a:solidFill>
                <a:srgbClr val="162033"/>
              </a:solidFill>
              <a:latin typeface="Aptos Display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55CBEEA-D56B-4D27-E6B8-70FB872897CC}"/>
              </a:ext>
            </a:extLst>
          </p:cNvPr>
          <p:cNvGrpSpPr/>
          <p:nvPr/>
        </p:nvGrpSpPr>
        <p:grpSpPr>
          <a:xfrm>
            <a:off x="5238246" y="4649725"/>
            <a:ext cx="1683504" cy="190821"/>
            <a:chOff x="4956048" y="4425696"/>
            <a:chExt cx="1683504" cy="190821"/>
          </a:xfrm>
        </p:grpSpPr>
        <p:sp>
          <p:nvSpPr>
            <p:cNvPr id="47" name="Rectangle 46"/>
            <p:cNvSpPr/>
            <p:nvPr/>
          </p:nvSpPr>
          <p:spPr>
            <a:xfrm>
              <a:off x="4956048" y="4562856"/>
              <a:ext cx="493776" cy="32004"/>
            </a:xfrm>
            <a:prstGeom prst="rect">
              <a:avLst/>
            </a:prstGeom>
            <a:solidFill>
              <a:srgbClr val="7EDFB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559552" y="4425696"/>
              <a:ext cx="1080000" cy="190821"/>
            </a:xfrm>
            <a:prstGeom prst="rect">
              <a:avLst/>
            </a:prstGeom>
            <a:noFill/>
          </p:spPr>
          <p:txBody>
            <a:bodyPr wrap="square" lIns="27432" tIns="18288" rIns="27432" bIns="18288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000" b="1" dirty="0">
                  <a:solidFill>
                    <a:srgbClr val="7EDFB2"/>
                  </a:solidFill>
                  <a:latin typeface="Aptos"/>
                </a:rPr>
                <a:t>S</a:t>
              </a:r>
              <a:r>
                <a:rPr lang="en-GB" sz="1000" b="1" dirty="0">
                  <a:solidFill>
                    <a:srgbClr val="7EDFB2"/>
                  </a:solidFill>
                  <a:latin typeface="Aptos"/>
                </a:rPr>
                <a:t>PECIFICS</a:t>
              </a:r>
              <a:endParaRPr sz="1000" b="1" dirty="0">
                <a:solidFill>
                  <a:srgbClr val="7EDFB2"/>
                </a:solidFill>
                <a:latin typeface="Aptos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5269998" y="5070349"/>
            <a:ext cx="1620000" cy="5293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600" b="1" dirty="0">
                <a:solidFill>
                  <a:srgbClr val="162033"/>
                </a:solidFill>
                <a:latin typeface="Aptos Display"/>
              </a:rPr>
              <a:t>I</a:t>
            </a:r>
            <a:r>
              <a:rPr sz="1600" b="1" dirty="0" err="1">
                <a:solidFill>
                  <a:srgbClr val="162033"/>
                </a:solidFill>
                <a:latin typeface="Aptos Display"/>
              </a:rPr>
              <a:t>nputs</a:t>
            </a:r>
            <a:r>
              <a:rPr sz="1600" b="1" dirty="0">
                <a:solidFill>
                  <a:srgbClr val="162033"/>
                </a:solidFill>
                <a:latin typeface="Aptos Display"/>
              </a:rPr>
              <a:t> +</a:t>
            </a:r>
          </a:p>
          <a:p>
            <a:pPr algn="ctr">
              <a:spcAft>
                <a:spcPts val="0"/>
              </a:spcAft>
            </a:pPr>
            <a:r>
              <a:rPr sz="1600" b="1" dirty="0">
                <a:solidFill>
                  <a:srgbClr val="162033"/>
                </a:solidFill>
                <a:latin typeface="Aptos Display"/>
              </a:rPr>
              <a:t>outputs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6DB0E52-21A6-ECB6-3404-756DFD87DD5E}"/>
              </a:ext>
            </a:extLst>
          </p:cNvPr>
          <p:cNvGrpSpPr/>
          <p:nvPr/>
        </p:nvGrpSpPr>
        <p:grpSpPr>
          <a:xfrm>
            <a:off x="7471035" y="4649725"/>
            <a:ext cx="1683504" cy="190821"/>
            <a:chOff x="7031736" y="4425696"/>
            <a:chExt cx="1683504" cy="190821"/>
          </a:xfrm>
        </p:grpSpPr>
        <p:sp>
          <p:nvSpPr>
            <p:cNvPr id="51" name="Rectangle 50"/>
            <p:cNvSpPr/>
            <p:nvPr/>
          </p:nvSpPr>
          <p:spPr>
            <a:xfrm>
              <a:off x="7031736" y="4562856"/>
              <a:ext cx="493776" cy="32004"/>
            </a:xfrm>
            <a:prstGeom prst="rect">
              <a:avLst/>
            </a:prstGeom>
            <a:solidFill>
              <a:srgbClr val="FFD1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635240" y="4425696"/>
              <a:ext cx="1080000" cy="190821"/>
            </a:xfrm>
            <a:prstGeom prst="rect">
              <a:avLst/>
            </a:prstGeom>
            <a:noFill/>
          </p:spPr>
          <p:txBody>
            <a:bodyPr wrap="square" lIns="27432" tIns="18288" rIns="27432" bIns="18288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000" b="1" dirty="0">
                  <a:solidFill>
                    <a:srgbClr val="FFD166"/>
                  </a:solidFill>
                  <a:latin typeface="Aptos"/>
                </a:rPr>
                <a:t>C</a:t>
              </a:r>
              <a:r>
                <a:rPr lang="en-GB" sz="1000" b="1" dirty="0">
                  <a:solidFill>
                    <a:srgbClr val="FFD166"/>
                  </a:solidFill>
                  <a:latin typeface="Aptos"/>
                </a:rPr>
                <a:t>ONSTRAINTS</a:t>
              </a:r>
              <a:endParaRPr sz="1000" b="1" dirty="0">
                <a:solidFill>
                  <a:srgbClr val="FFD166"/>
                </a:solidFill>
                <a:latin typeface="Aptos"/>
              </a:endParaRP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7502787" y="5070349"/>
            <a:ext cx="1620000" cy="5293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600" b="1" dirty="0">
                <a:solidFill>
                  <a:srgbClr val="162033"/>
                </a:solidFill>
                <a:latin typeface="Aptos Display"/>
              </a:rPr>
              <a:t>Simple, b</a:t>
            </a:r>
            <a:r>
              <a:rPr sz="1600" b="1" dirty="0" err="1">
                <a:solidFill>
                  <a:srgbClr val="162033"/>
                </a:solidFill>
                <a:latin typeface="Aptos Display"/>
              </a:rPr>
              <a:t>ullets</a:t>
            </a:r>
            <a:r>
              <a:rPr sz="1600" b="1" dirty="0">
                <a:solidFill>
                  <a:srgbClr val="162033"/>
                </a:solidFill>
                <a:latin typeface="Aptos Display"/>
              </a:rPr>
              <a:t>,</a:t>
            </a:r>
          </a:p>
          <a:p>
            <a:pPr algn="ctr">
              <a:spcAft>
                <a:spcPts val="0"/>
              </a:spcAft>
            </a:pPr>
            <a:r>
              <a:rPr sz="1600" b="1" dirty="0">
                <a:solidFill>
                  <a:srgbClr val="162033"/>
                </a:solidFill>
                <a:latin typeface="Aptos Display"/>
              </a:rPr>
              <a:t>150 words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CF5289DB-42D6-C9DA-DACF-0BE97281227E}"/>
              </a:ext>
            </a:extLst>
          </p:cNvPr>
          <p:cNvGrpSpPr/>
          <p:nvPr/>
        </p:nvGrpSpPr>
        <p:grpSpPr>
          <a:xfrm>
            <a:off x="9703824" y="4649725"/>
            <a:ext cx="1683504" cy="190821"/>
            <a:chOff x="9107424" y="4425696"/>
            <a:chExt cx="1683504" cy="190821"/>
          </a:xfrm>
        </p:grpSpPr>
        <p:sp>
          <p:nvSpPr>
            <p:cNvPr id="55" name="Rectangle 54"/>
            <p:cNvSpPr/>
            <p:nvPr/>
          </p:nvSpPr>
          <p:spPr>
            <a:xfrm>
              <a:off x="9107424" y="4562856"/>
              <a:ext cx="493776" cy="32004"/>
            </a:xfrm>
            <a:prstGeom prst="rect">
              <a:avLst/>
            </a:prstGeom>
            <a:solidFill>
              <a:srgbClr val="A78BF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9710928" y="4425696"/>
              <a:ext cx="1080000" cy="190821"/>
            </a:xfrm>
            <a:prstGeom prst="rect">
              <a:avLst/>
            </a:prstGeom>
            <a:noFill/>
          </p:spPr>
          <p:txBody>
            <a:bodyPr wrap="square" lIns="27432" tIns="18288" rIns="27432" bIns="18288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000" b="1" dirty="0">
                  <a:solidFill>
                    <a:srgbClr val="A78BFA"/>
                  </a:solidFill>
                  <a:latin typeface="Aptos"/>
                </a:rPr>
                <a:t>E</a:t>
              </a:r>
              <a:r>
                <a:rPr lang="en-GB" sz="1000" b="1" dirty="0">
                  <a:solidFill>
                    <a:srgbClr val="A78BFA"/>
                  </a:solidFill>
                  <a:latin typeface="Aptos"/>
                </a:rPr>
                <a:t>VALUATION</a:t>
              </a:r>
              <a:endParaRPr sz="1000" b="1" dirty="0">
                <a:solidFill>
                  <a:srgbClr val="A78BFA"/>
                </a:solidFill>
                <a:latin typeface="Aptos"/>
              </a:endParaRP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9735576" y="5070349"/>
            <a:ext cx="1620000" cy="5293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600" b="1" dirty="0">
                <a:solidFill>
                  <a:srgbClr val="162033"/>
                </a:solidFill>
                <a:latin typeface="Aptos Display"/>
              </a:rPr>
              <a:t>Q</a:t>
            </a:r>
            <a:r>
              <a:rPr sz="1600" b="1" dirty="0" err="1">
                <a:solidFill>
                  <a:srgbClr val="162033"/>
                </a:solidFill>
                <a:latin typeface="Aptos Display"/>
              </a:rPr>
              <a:t>uiz</a:t>
            </a:r>
            <a:endParaRPr sz="1600" b="1" dirty="0">
              <a:solidFill>
                <a:srgbClr val="162033"/>
              </a:solidFill>
              <a:latin typeface="Aptos Display"/>
            </a:endParaRPr>
          </a:p>
          <a:p>
            <a:pPr algn="ctr">
              <a:spcAft>
                <a:spcPts val="0"/>
              </a:spcAft>
            </a:pPr>
            <a:r>
              <a:rPr sz="1600" b="1" dirty="0">
                <a:solidFill>
                  <a:srgbClr val="162033"/>
                </a:solidFill>
                <a:latin typeface="Aptos Display"/>
              </a:rPr>
              <a:t>question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256032"/>
            <a:ext cx="1005840" cy="0"/>
          </a:xfrm>
          <a:prstGeom prst="line">
            <a:avLst/>
          </a:prstGeom>
          <a:noFill/>
          <a:ln w="63500">
            <a:solidFill>
              <a:srgbClr val="FF6363">
                <a:alpha val="78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064240" y="502920"/>
            <a:ext cx="502920" cy="0"/>
          </a:xfrm>
          <a:prstGeom prst="line">
            <a:avLst/>
          </a:prstGeom>
          <a:noFill/>
          <a:ln w="63500">
            <a:solidFill>
              <a:srgbClr val="FFD166">
                <a:alpha val="9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594360" y="374904"/>
            <a:ext cx="411480" cy="0"/>
          </a:xfrm>
          <a:prstGeom prst="line">
            <a:avLst/>
          </a:prstGeom>
          <a:noFill/>
          <a:ln w="38100">
            <a:solidFill>
              <a:srgbClr val="FF63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06424" y="30175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3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LEVEL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Advanced prompting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21792" y="13716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160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 the AI a role and a process.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6473952"/>
            <a:ext cx="9692640" cy="0"/>
          </a:xfrm>
          <a:prstGeom prst="line">
            <a:avLst/>
          </a:prstGeom>
          <a:noFill/>
          <a:ln w="12700">
            <a:solidFill>
              <a:srgbClr val="D8DC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94360" y="659282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160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Prompting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972800" y="657453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GB" sz="1000">
                <a:solidFill>
                  <a:srgbClr val="182438"/>
                </a:solidFill>
                <a:latin typeface="Aptos"/>
              </a:rPr>
              <a:t>11</a:t>
            </a:r>
          </a:p>
        </p:txBody>
      </p:sp>
      <p:pic>
        <p:nvPicPr>
          <p:cNvPr id="25" name="Image 0" descr="slide9_shape11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618" y="1920240"/>
            <a:ext cx="1593804" cy="182880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2971800" y="1773936"/>
            <a:ext cx="7635240" cy="22677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4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91256" y="1920240"/>
            <a:ext cx="283464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400" b="1">
                <a:solidFill>
                  <a:srgbClr val="2478FF"/>
                </a:solidFill>
                <a:latin typeface="Aptos"/>
              </a:rPr>
              <a:t>ADVANCED PROMPT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91256" y="2249424"/>
            <a:ext cx="7196327" cy="1609344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82438"/>
                </a:solidFill>
                <a:latin typeface="Aptos Mono"/>
              </a:rPr>
              <a:t>Act as a </a:t>
            </a:r>
            <a:r>
              <a:rPr sz="1500" b="1">
                <a:solidFill>
                  <a:srgbClr val="FF6363"/>
                </a:solidFill>
                <a:latin typeface="Aptos Mono"/>
              </a:rPr>
              <a:t>friendly, supportive GCSE Biology tutor for a 16-year-old student</a:t>
            </a:r>
            <a:r>
              <a:rPr sz="1500" b="0">
                <a:solidFill>
                  <a:srgbClr val="182438"/>
                </a:solidFill>
                <a:latin typeface="Aptos Mono"/>
              </a:rPr>
              <a:t>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82438"/>
                </a:solidFill>
                <a:latin typeface="Aptos Mono"/>
              </a:rPr>
              <a:t>Your goal is to </a:t>
            </a:r>
            <a:r>
              <a:rPr sz="1500" b="1">
                <a:solidFill>
                  <a:srgbClr val="2478FF"/>
                </a:solidFill>
                <a:latin typeface="Aptos Mono"/>
              </a:rPr>
              <a:t>help me understand photosynthesis</a:t>
            </a:r>
            <a:r>
              <a:rPr sz="1500" b="0">
                <a:solidFill>
                  <a:srgbClr val="182438"/>
                </a:solidFill>
                <a:latin typeface="Aptos Mono"/>
              </a:rPr>
              <a:t>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82438"/>
                </a:solidFill>
                <a:latin typeface="Aptos Mono"/>
              </a:rPr>
              <a:t>Follow this process: </a:t>
            </a:r>
            <a:r>
              <a:rPr sz="1500" b="1">
                <a:solidFill>
                  <a:srgbClr val="7EDFB2"/>
                </a:solidFill>
                <a:latin typeface="Aptos Mono"/>
              </a:rPr>
              <a:t>explain simply → give a relatable analogy → quiz me</a:t>
            </a:r>
            <a:r>
              <a:rPr sz="1500" b="0">
                <a:solidFill>
                  <a:srgbClr val="182438"/>
                </a:solidFill>
                <a:latin typeface="Aptos Mono"/>
              </a:rPr>
              <a:t>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82438"/>
                </a:solidFill>
                <a:latin typeface="Aptos Mono"/>
              </a:rPr>
              <a:t>Keep it </a:t>
            </a:r>
            <a:r>
              <a:rPr sz="1500" b="1">
                <a:solidFill>
                  <a:srgbClr val="FFD166"/>
                </a:solidFill>
                <a:latin typeface="Aptos Mono"/>
              </a:rPr>
              <a:t>under 150 words and in bullet points</a:t>
            </a:r>
            <a:r>
              <a:rPr sz="1500" b="0">
                <a:solidFill>
                  <a:srgbClr val="182438"/>
                </a:solidFill>
                <a:latin typeface="Aptos Mono"/>
              </a:rPr>
              <a:t>. Then </a:t>
            </a:r>
            <a:r>
              <a:rPr sz="1500" b="1">
                <a:solidFill>
                  <a:srgbClr val="A78BFA"/>
                </a:solidFill>
                <a:latin typeface="Aptos Mono"/>
              </a:rPr>
              <a:t>correct mistakes and give one revision tip</a:t>
            </a:r>
            <a:r>
              <a:rPr sz="1500" b="0">
                <a:solidFill>
                  <a:srgbClr val="182438"/>
                </a:solidFill>
                <a:latin typeface="Aptos Mono"/>
              </a:rPr>
              <a:t>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" y="4443984"/>
            <a:ext cx="512064" cy="32004"/>
          </a:xfrm>
          <a:prstGeom prst="rect">
            <a:avLst/>
          </a:prstGeom>
          <a:solidFill>
            <a:srgbClr val="2478FF"/>
          </a:solidFill>
          <a:ln>
            <a:solidFill>
              <a:srgbClr val="24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353312" y="4379976"/>
            <a:ext cx="1252727" cy="237744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980" b="1">
                <a:solidFill>
                  <a:srgbClr val="2478FF"/>
                </a:solidFill>
                <a:latin typeface="Aptos"/>
              </a:rPr>
              <a:t>GOAL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7" y="4846320"/>
            <a:ext cx="1856231" cy="640080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 algn="ctr"/>
            <a:r>
              <a:rPr sz="1600" b="1">
                <a:solidFill>
                  <a:srgbClr val="182438"/>
                </a:solidFill>
                <a:latin typeface="Aptos"/>
              </a:rPr>
              <a:t>Photosynthesis</a:t>
            </a:r>
            <a:br/>
            <a:r>
              <a:rPr sz="1600" b="1">
                <a:solidFill>
                  <a:srgbClr val="182438"/>
                </a:solidFill>
                <a:latin typeface="Aptos"/>
              </a:rPr>
              <a:t>explained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443984"/>
            <a:ext cx="512064" cy="32004"/>
          </a:xfrm>
          <a:prstGeom prst="rect">
            <a:avLst/>
          </a:prstGeom>
          <a:solidFill>
            <a:srgbClr val="FF6363"/>
          </a:solidFill>
          <a:ln>
            <a:solidFill>
              <a:srgbClr val="FF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92424" y="4379976"/>
            <a:ext cx="1252727" cy="237744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980" b="1">
                <a:solidFill>
                  <a:srgbClr val="FF6363"/>
                </a:solidFill>
                <a:latin typeface="Aptos"/>
              </a:rPr>
              <a:t>CONTEXT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4846320"/>
            <a:ext cx="1856231" cy="640080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 algn="ctr"/>
            <a:r>
              <a:rPr sz="1600" b="1">
                <a:solidFill>
                  <a:srgbClr val="182438"/>
                </a:solidFill>
                <a:latin typeface="Aptos"/>
              </a:rPr>
              <a:t>Tutor role +</a:t>
            </a:r>
            <a:br/>
            <a:r>
              <a:rPr sz="1600" b="1">
                <a:solidFill>
                  <a:srgbClr val="182438"/>
                </a:solidFill>
                <a:latin typeface="Aptos"/>
              </a:rPr>
              <a:t>student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28032" y="4443984"/>
            <a:ext cx="512064" cy="32004"/>
          </a:xfrm>
          <a:prstGeom prst="rect">
            <a:avLst/>
          </a:prstGeom>
          <a:solidFill>
            <a:srgbClr val="7EDFB2"/>
          </a:solidFill>
          <a:ln>
            <a:solidFill>
              <a:srgbClr val="7ED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31536" y="4379976"/>
            <a:ext cx="1252727" cy="237744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980" b="1">
                <a:solidFill>
                  <a:srgbClr val="7EDFB2"/>
                </a:solidFill>
                <a:latin typeface="Aptos"/>
              </a:rPr>
              <a:t>SPECIFICS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82312" y="4846320"/>
            <a:ext cx="1856231" cy="640080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 algn="ctr"/>
            <a:r>
              <a:rPr sz="1600" b="1">
                <a:solidFill>
                  <a:srgbClr val="182438"/>
                </a:solidFill>
                <a:latin typeface="Aptos"/>
              </a:rPr>
              <a:t>Explain →</a:t>
            </a:r>
            <a:br/>
            <a:r>
              <a:rPr sz="1600" b="1">
                <a:solidFill>
                  <a:srgbClr val="182438"/>
                </a:solidFill>
                <a:latin typeface="Aptos"/>
              </a:rPr>
              <a:t>analogy → quiz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67144" y="4443984"/>
            <a:ext cx="512064" cy="32004"/>
          </a:xfrm>
          <a:prstGeom prst="rect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70648" y="4379976"/>
            <a:ext cx="1252727" cy="237744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980" b="1">
                <a:solidFill>
                  <a:srgbClr val="FFD166"/>
                </a:solidFill>
                <a:latin typeface="Aptos"/>
              </a:rPr>
              <a:t>CONSTRAINTS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21424" y="4846320"/>
            <a:ext cx="1856231" cy="640080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 algn="ctr"/>
            <a:r>
              <a:rPr sz="1600" b="1">
                <a:solidFill>
                  <a:srgbClr val="182438"/>
                </a:solidFill>
                <a:latin typeface="Aptos"/>
              </a:rPr>
              <a:t>Bullets +</a:t>
            </a:r>
            <a:br/>
            <a:r>
              <a:rPr sz="1600" b="1">
                <a:solidFill>
                  <a:srgbClr val="182438"/>
                </a:solidFill>
                <a:latin typeface="Aptos"/>
              </a:rPr>
              <a:t>150 words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06256" y="4443984"/>
            <a:ext cx="512064" cy="32004"/>
          </a:xfrm>
          <a:prstGeom prst="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509760" y="4379976"/>
            <a:ext cx="1252727" cy="237744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980" b="1">
                <a:solidFill>
                  <a:srgbClr val="A78BFA"/>
                </a:solidFill>
                <a:latin typeface="Aptos"/>
              </a:rPr>
              <a:t>EVALUATION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0536" y="4846320"/>
            <a:ext cx="1856231" cy="640080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 algn="ctr"/>
            <a:r>
              <a:rPr sz="1600" b="1">
                <a:solidFill>
                  <a:srgbClr val="182438"/>
                </a:solidFill>
                <a:latin typeface="Aptos"/>
              </a:rPr>
              <a:t>Correct +</a:t>
            </a:r>
            <a:br/>
            <a:r>
              <a:rPr sz="1600" b="1">
                <a:solidFill>
                  <a:srgbClr val="182438"/>
                </a:solidFill>
                <a:latin typeface="Aptos"/>
              </a:rPr>
              <a:t>revision tip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" y="5687568"/>
            <a:ext cx="10058400" cy="420624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 algn="ctr"/>
            <a:r>
              <a:rPr sz="2500" b="1">
                <a:solidFill>
                  <a:srgbClr val="2478FF"/>
                </a:solidFill>
                <a:latin typeface="Aptos Display"/>
              </a:rPr>
              <a:t>Advanced prompting tells AI who to be, what to do and how to respond.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256032"/>
            <a:ext cx="1005840" cy="0"/>
          </a:xfrm>
          <a:prstGeom prst="line">
            <a:avLst/>
          </a:prstGeom>
          <a:noFill/>
          <a:ln w="63500">
            <a:solidFill>
              <a:srgbClr val="FF6363">
                <a:alpha val="78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064240" y="502920"/>
            <a:ext cx="502920" cy="0"/>
          </a:xfrm>
          <a:prstGeom prst="line">
            <a:avLst/>
          </a:prstGeom>
          <a:noFill/>
          <a:ln w="63500">
            <a:solidFill>
              <a:srgbClr val="FFD166">
                <a:alpha val="9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594360" y="374904"/>
            <a:ext cx="411480" cy="0"/>
          </a:xfrm>
          <a:prstGeom prst="line">
            <a:avLst/>
          </a:prstGeom>
          <a:noFill/>
          <a:ln w="38100">
            <a:solidFill>
              <a:srgbClr val="FF63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06424" y="30175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3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CHOICE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Different prompts for different jobs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21792" y="1371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160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 is no single perfect prompt — match the prompt to the task.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6473952"/>
            <a:ext cx="9692640" cy="0"/>
          </a:xfrm>
          <a:prstGeom prst="line">
            <a:avLst/>
          </a:prstGeom>
          <a:noFill/>
          <a:ln w="12700">
            <a:solidFill>
              <a:srgbClr val="D8DC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94360" y="659282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160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Prompting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972800" y="657453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GB" sz="1000">
                <a:solidFill>
                  <a:srgbClr val="182438"/>
                </a:solidFill>
                <a:latin typeface="Aptos"/>
              </a:rPr>
              <a:t>12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4B34847-00F6-AF9B-2553-12ACCB8DFC18}"/>
              </a:ext>
            </a:extLst>
          </p:cNvPr>
          <p:cNvGrpSpPr/>
          <p:nvPr/>
        </p:nvGrpSpPr>
        <p:grpSpPr>
          <a:xfrm>
            <a:off x="838200" y="2057400"/>
            <a:ext cx="10515600" cy="3813048"/>
            <a:chOff x="777240" y="2057400"/>
            <a:chExt cx="10515600" cy="3813048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B057449-7AFF-0570-AB2B-C1D5C9D51F62}"/>
                </a:ext>
              </a:extLst>
            </p:cNvPr>
            <p:cNvGrpSpPr/>
            <p:nvPr/>
          </p:nvGrpSpPr>
          <p:grpSpPr>
            <a:xfrm>
              <a:off x="914400" y="2057400"/>
              <a:ext cx="2468880" cy="795528"/>
              <a:chOff x="914400" y="2057400"/>
              <a:chExt cx="2468880" cy="795528"/>
            </a:xfrm>
          </p:grpSpPr>
          <p:sp>
            <p:nvSpPr>
              <p:cNvPr id="12" name="Text 10"/>
              <p:cNvSpPr/>
              <p:nvPr/>
            </p:nvSpPr>
            <p:spPr>
              <a:xfrm>
                <a:off x="914400" y="2057400"/>
                <a:ext cx="2468880" cy="32918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2478FF"/>
                    </a:solidFill>
                    <a:latin typeface="Aptos Display" pitchFamily="34" charset="0"/>
                    <a:ea typeface="Aptos Display" pitchFamily="34" charset="-122"/>
                    <a:cs typeface="Aptos Display" pitchFamily="34" charset="-120"/>
                  </a:rPr>
                  <a:t>Study</a:t>
                </a:r>
                <a:endParaRPr lang="en-US" sz="2200" dirty="0"/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914400" y="2468880"/>
                <a:ext cx="2468880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450" dirty="0">
                    <a:solidFill>
                      <a:srgbClr val="51607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Topic + level + quiz</a:t>
                </a:r>
                <a:endParaRPr lang="en-US" sz="1450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FAEBF4A-9F0C-92EE-CEEC-FBF1A1FE8A0B}"/>
                </a:ext>
              </a:extLst>
            </p:cNvPr>
            <p:cNvGrpSpPr/>
            <p:nvPr/>
          </p:nvGrpSpPr>
          <p:grpSpPr>
            <a:xfrm>
              <a:off x="8823960" y="2057400"/>
              <a:ext cx="2468880" cy="795528"/>
              <a:chOff x="8823960" y="2057400"/>
              <a:chExt cx="2468880" cy="795528"/>
            </a:xfrm>
          </p:grpSpPr>
          <p:sp>
            <p:nvSpPr>
              <p:cNvPr id="14" name="Text 12"/>
              <p:cNvSpPr/>
              <p:nvPr/>
            </p:nvSpPr>
            <p:spPr>
              <a:xfrm>
                <a:off x="8823960" y="2057400"/>
                <a:ext cx="2468880" cy="32918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FF6363"/>
                    </a:solidFill>
                    <a:latin typeface="Aptos Display" pitchFamily="34" charset="0"/>
                    <a:ea typeface="Aptos Display" pitchFamily="34" charset="-122"/>
                    <a:cs typeface="Aptos Display" pitchFamily="34" charset="-120"/>
                  </a:rPr>
                  <a:t>Images</a:t>
                </a:r>
                <a:endParaRPr lang="en-US" sz="2200" dirty="0"/>
              </a:p>
            </p:txBody>
          </p:sp>
          <p:sp>
            <p:nvSpPr>
              <p:cNvPr id="15" name="Text 13"/>
              <p:cNvSpPr/>
              <p:nvPr/>
            </p:nvSpPr>
            <p:spPr>
              <a:xfrm>
                <a:off x="8823960" y="2468880"/>
                <a:ext cx="2468880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450" dirty="0">
                    <a:solidFill>
                      <a:srgbClr val="51607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Subject + style + format</a:t>
                </a:r>
                <a:endParaRPr lang="en-US" sz="1450" dirty="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71BF40AB-3241-A4FB-ED79-EB630DB2DC2A}"/>
                </a:ext>
              </a:extLst>
            </p:cNvPr>
            <p:cNvGrpSpPr/>
            <p:nvPr/>
          </p:nvGrpSpPr>
          <p:grpSpPr>
            <a:xfrm>
              <a:off x="777240" y="4343400"/>
              <a:ext cx="2468880" cy="795528"/>
              <a:chOff x="777240" y="4343400"/>
              <a:chExt cx="2468880" cy="795528"/>
            </a:xfrm>
          </p:grpSpPr>
          <p:sp>
            <p:nvSpPr>
              <p:cNvPr id="16" name="Text 14"/>
              <p:cNvSpPr/>
              <p:nvPr/>
            </p:nvSpPr>
            <p:spPr>
              <a:xfrm>
                <a:off x="777240" y="4343400"/>
                <a:ext cx="2468880" cy="32918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7EDFB2"/>
                    </a:solidFill>
                    <a:latin typeface="Aptos Display" pitchFamily="34" charset="0"/>
                    <a:ea typeface="Aptos Display" pitchFamily="34" charset="-122"/>
                    <a:cs typeface="Aptos Display" pitchFamily="34" charset="-120"/>
                  </a:rPr>
                  <a:t>Slides</a:t>
                </a:r>
                <a:endParaRPr lang="en-US" sz="2200" dirty="0"/>
              </a:p>
            </p:txBody>
          </p:sp>
          <p:sp>
            <p:nvSpPr>
              <p:cNvPr id="17" name="Text 15"/>
              <p:cNvSpPr/>
              <p:nvPr/>
            </p:nvSpPr>
            <p:spPr>
              <a:xfrm>
                <a:off x="777240" y="4754880"/>
                <a:ext cx="2468880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450" dirty="0">
                    <a:solidFill>
                      <a:srgbClr val="51607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Audience + structure + notes</a:t>
                </a:r>
                <a:endParaRPr lang="en-US" sz="1450" dirty="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A9C72A2B-CD14-17A1-B51E-58F471D88F7E}"/>
                </a:ext>
              </a:extLst>
            </p:cNvPr>
            <p:cNvGrpSpPr/>
            <p:nvPr/>
          </p:nvGrpSpPr>
          <p:grpSpPr>
            <a:xfrm>
              <a:off x="8732520" y="4343400"/>
              <a:ext cx="2468880" cy="795528"/>
              <a:chOff x="8732520" y="4343400"/>
              <a:chExt cx="2468880" cy="795528"/>
            </a:xfrm>
          </p:grpSpPr>
          <p:sp>
            <p:nvSpPr>
              <p:cNvPr id="18" name="Text 16"/>
              <p:cNvSpPr/>
              <p:nvPr/>
            </p:nvSpPr>
            <p:spPr>
              <a:xfrm>
                <a:off x="8732520" y="4343400"/>
                <a:ext cx="2468880" cy="32918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FFD166"/>
                    </a:solidFill>
                    <a:latin typeface="Aptos Display" pitchFamily="34" charset="0"/>
                    <a:ea typeface="Aptos Display" pitchFamily="34" charset="-122"/>
                    <a:cs typeface="Aptos Display" pitchFamily="34" charset="-120"/>
                  </a:rPr>
                  <a:t>Creative</a:t>
                </a:r>
                <a:endParaRPr lang="en-US" sz="2200" dirty="0"/>
              </a:p>
            </p:txBody>
          </p:sp>
          <p:sp>
            <p:nvSpPr>
              <p:cNvPr id="19" name="Text 17"/>
              <p:cNvSpPr/>
              <p:nvPr/>
            </p:nvSpPr>
            <p:spPr>
              <a:xfrm>
                <a:off x="8732520" y="4754880"/>
                <a:ext cx="2468880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450" dirty="0">
                    <a:solidFill>
                      <a:srgbClr val="51607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Tone + genre + constraints</a:t>
                </a:r>
                <a:endParaRPr lang="en-US" sz="1450" dirty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A7EC6E1-C9AA-BDED-DD52-B9049251E50F}"/>
                </a:ext>
              </a:extLst>
            </p:cNvPr>
            <p:cNvGrpSpPr/>
            <p:nvPr/>
          </p:nvGrpSpPr>
          <p:grpSpPr>
            <a:xfrm>
              <a:off x="4206240" y="5074920"/>
              <a:ext cx="2468880" cy="795528"/>
              <a:chOff x="4206240" y="5074920"/>
              <a:chExt cx="2468880" cy="795528"/>
            </a:xfrm>
          </p:grpSpPr>
          <p:sp>
            <p:nvSpPr>
              <p:cNvPr id="20" name="Text 18"/>
              <p:cNvSpPr/>
              <p:nvPr/>
            </p:nvSpPr>
            <p:spPr>
              <a:xfrm>
                <a:off x="4206240" y="5074920"/>
                <a:ext cx="2468880" cy="32918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A78BFA"/>
                    </a:solidFill>
                    <a:latin typeface="Aptos Display" pitchFamily="34" charset="0"/>
                    <a:ea typeface="Aptos Display" pitchFamily="34" charset="-122"/>
                    <a:cs typeface="Aptos Display" pitchFamily="34" charset="-120"/>
                  </a:rPr>
                  <a:t>Career</a:t>
                </a:r>
                <a:endParaRPr lang="en-US" sz="2200" dirty="0"/>
              </a:p>
            </p:txBody>
          </p:sp>
          <p:sp>
            <p:nvSpPr>
              <p:cNvPr id="21" name="Text 19"/>
              <p:cNvSpPr/>
              <p:nvPr/>
            </p:nvSpPr>
            <p:spPr>
              <a:xfrm>
                <a:off x="4206240" y="5486400"/>
                <a:ext cx="2468880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450" dirty="0">
                    <a:solidFill>
                      <a:srgbClr val="51607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Goal + experience + feedback</a:t>
                </a:r>
                <a:endParaRPr lang="en-US" sz="1450" dirty="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1323F09-311A-790D-8B1D-54EACDB687A4}"/>
                </a:ext>
              </a:extLst>
            </p:cNvPr>
            <p:cNvGrpSpPr/>
            <p:nvPr/>
          </p:nvGrpSpPr>
          <p:grpSpPr>
            <a:xfrm>
              <a:off x="5042916" y="2477288"/>
              <a:ext cx="2121408" cy="1903425"/>
              <a:chOff x="5035296" y="2742464"/>
              <a:chExt cx="2121408" cy="1903425"/>
            </a:xfrm>
          </p:grpSpPr>
          <p:pic>
            <p:nvPicPr>
              <p:cNvPr id="22" name="Picture 21" descr="slide11_task_first_icon_transparent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87340" y="2742464"/>
                <a:ext cx="1417320" cy="1373073"/>
              </a:xfrm>
              <a:prstGeom prst="rect">
                <a:avLst/>
              </a:prstGeom>
            </p:spPr>
          </p:pic>
          <p:sp>
            <p:nvSpPr>
              <p:cNvPr id="23" name="TextBox 22"/>
              <p:cNvSpPr txBox="1"/>
              <p:nvPr/>
            </p:nvSpPr>
            <p:spPr>
              <a:xfrm>
                <a:off x="5035296" y="4115537"/>
                <a:ext cx="2121408" cy="530352"/>
              </a:xfrm>
              <a:prstGeom prst="rect">
                <a:avLst/>
              </a:prstGeom>
              <a:noFill/>
            </p:spPr>
            <p:txBody>
              <a:bodyPr wrap="square" lIns="18288" tIns="9144" rIns="18288" bIns="9144">
                <a:noAutofit/>
              </a:bodyPr>
              <a:lstStyle/>
              <a:p>
                <a:pPr algn="ctr"/>
                <a:r>
                  <a:rPr b="1" dirty="0">
                    <a:solidFill>
                      <a:srgbClr val="516071"/>
                    </a:solidFill>
                    <a:latin typeface="Aptos Display"/>
                  </a:rPr>
                  <a:t>TASK</a:t>
                </a:r>
                <a:br>
                  <a:rPr dirty="0">
                    <a:solidFill>
                      <a:srgbClr val="516071"/>
                    </a:solidFill>
                  </a:rPr>
                </a:br>
                <a:r>
                  <a:rPr b="1" dirty="0">
                    <a:solidFill>
                      <a:srgbClr val="516071"/>
                    </a:solidFill>
                    <a:latin typeface="Aptos Display"/>
                  </a:rPr>
                  <a:t>FIRST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256032"/>
            <a:ext cx="1005840" cy="0"/>
          </a:xfrm>
          <a:prstGeom prst="line">
            <a:avLst/>
          </a:prstGeom>
          <a:noFill/>
          <a:ln w="63500">
            <a:solidFill>
              <a:srgbClr val="FF6363">
                <a:alpha val="78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064240" y="502920"/>
            <a:ext cx="502920" cy="0"/>
          </a:xfrm>
          <a:prstGeom prst="line">
            <a:avLst/>
          </a:prstGeom>
          <a:noFill/>
          <a:ln w="63500">
            <a:solidFill>
              <a:srgbClr val="FFD166">
                <a:alpha val="9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594360" y="374904"/>
            <a:ext cx="411480" cy="0"/>
          </a:xfrm>
          <a:prstGeom prst="line">
            <a:avLst/>
          </a:prstGeom>
          <a:noFill/>
          <a:ln w="38100">
            <a:solidFill>
              <a:srgbClr val="FF63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06424" y="30175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3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PROMPTS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Prompting for images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21792" y="13716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160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what the camera should see.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6473952"/>
            <a:ext cx="9692640" cy="0"/>
          </a:xfrm>
          <a:prstGeom prst="line">
            <a:avLst/>
          </a:prstGeom>
          <a:noFill/>
          <a:ln w="12700">
            <a:solidFill>
              <a:srgbClr val="D8DC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94360" y="659282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160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Prompting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972800" y="657453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GB" sz="1000">
                <a:solidFill>
                  <a:srgbClr val="182438"/>
                </a:solidFill>
                <a:latin typeface="Aptos"/>
              </a:rPr>
              <a:t>13</a:t>
            </a:r>
          </a:p>
        </p:txBody>
      </p:sp>
      <p:pic>
        <p:nvPicPr>
          <p:cNvPr id="30" name="Image 0" descr="slide11_shape11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2043684"/>
            <a:ext cx="1645920" cy="1325880"/>
          </a:xfrm>
          <a:prstGeom prst="rect">
            <a:avLst/>
          </a:prstGeom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8395958F-305A-9379-5733-0228464430A4}"/>
              </a:ext>
            </a:extLst>
          </p:cNvPr>
          <p:cNvGrpSpPr/>
          <p:nvPr/>
        </p:nvGrpSpPr>
        <p:grpSpPr>
          <a:xfrm>
            <a:off x="804672" y="3584448"/>
            <a:ext cx="2468880" cy="987552"/>
            <a:chOff x="804672" y="3584448"/>
            <a:chExt cx="2468880" cy="987552"/>
          </a:xfrm>
        </p:grpSpPr>
        <p:sp>
          <p:nvSpPr>
            <p:cNvPr id="31" name="Rounded Rectangle 30"/>
            <p:cNvSpPr/>
            <p:nvPr/>
          </p:nvSpPr>
          <p:spPr>
            <a:xfrm>
              <a:off x="804672" y="3584448"/>
              <a:ext cx="2468880" cy="987552"/>
            </a:xfrm>
            <a:prstGeom prst="roundRect">
              <a:avLst>
                <a:gd name="adj" fmla="val 10000"/>
              </a:avLst>
            </a:prstGeom>
            <a:solidFill>
              <a:srgbClr val="FFEBEB"/>
            </a:solidFill>
            <a:ln w="15240">
              <a:solidFill>
                <a:srgbClr val="FF636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69264" y="3703320"/>
              <a:ext cx="2139696" cy="228600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sz="1200" b="1">
                  <a:solidFill>
                    <a:srgbClr val="FF6363"/>
                  </a:solidFill>
                  <a:latin typeface="Aptos"/>
                </a:rPr>
                <a:t>START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69264" y="4041648"/>
              <a:ext cx="2139696" cy="438912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sz="1550" b="0" dirty="0">
                  <a:solidFill>
                    <a:srgbClr val="182438"/>
                  </a:solidFill>
                  <a:latin typeface="Aptos"/>
                </a:rPr>
                <a:t>A futuristic</a:t>
              </a:r>
              <a:r>
                <a:rPr lang="en-GB" sz="1550" b="0" dirty="0">
                  <a:solidFill>
                    <a:srgbClr val="182438"/>
                  </a:solidFill>
                  <a:latin typeface="Aptos"/>
                </a:rPr>
                <a:t> </a:t>
              </a:r>
              <a:r>
                <a:rPr sz="1550" b="0" dirty="0">
                  <a:solidFill>
                    <a:srgbClr val="182438"/>
                  </a:solidFill>
                  <a:latin typeface="Aptos"/>
                </a:rPr>
                <a:t>classroom</a:t>
              </a: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3401568" y="3803904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2478FF"/>
                </a:solidFill>
                <a:latin typeface="Aptos"/>
              </a:rPr>
              <a:t>→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8E5CA10-C7B0-7C31-87DB-E61D66EF04EA}"/>
              </a:ext>
            </a:extLst>
          </p:cNvPr>
          <p:cNvGrpSpPr/>
          <p:nvPr/>
        </p:nvGrpSpPr>
        <p:grpSpPr>
          <a:xfrm>
            <a:off x="3977639" y="2322576"/>
            <a:ext cx="6903720" cy="2121408"/>
            <a:chOff x="3977639" y="2322576"/>
            <a:chExt cx="6903720" cy="2121408"/>
          </a:xfrm>
        </p:grpSpPr>
        <p:sp>
          <p:nvSpPr>
            <p:cNvPr id="35" name="Rounded Rectangle 34"/>
            <p:cNvSpPr/>
            <p:nvPr/>
          </p:nvSpPr>
          <p:spPr>
            <a:xfrm>
              <a:off x="3977639" y="2322576"/>
              <a:ext cx="6903720" cy="2121408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5240">
              <a:solidFill>
                <a:srgbClr val="2478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8789A15-8A08-E68D-B6F4-4380D9C49F70}"/>
                </a:ext>
              </a:extLst>
            </p:cNvPr>
            <p:cNvGrpSpPr/>
            <p:nvPr/>
          </p:nvGrpSpPr>
          <p:grpSpPr>
            <a:xfrm>
              <a:off x="4197096" y="2468880"/>
              <a:ext cx="6464808" cy="1819655"/>
              <a:chOff x="4197096" y="2468880"/>
              <a:chExt cx="6464808" cy="1819655"/>
            </a:xfrm>
          </p:grpSpPr>
          <p:sp>
            <p:nvSpPr>
              <p:cNvPr id="36" name="TextBox 35"/>
              <p:cNvSpPr txBox="1"/>
              <p:nvPr/>
            </p:nvSpPr>
            <p:spPr>
              <a:xfrm>
                <a:off x="4197096" y="2468880"/>
                <a:ext cx="6464808" cy="246888"/>
              </a:xfrm>
              <a:prstGeom prst="rect">
                <a:avLst/>
              </a:prstGeom>
              <a:noFill/>
            </p:spPr>
            <p:txBody>
              <a:bodyPr wrap="square" lIns="36576" tIns="18288" rIns="36576" bIns="18288">
                <a:noAutofit/>
              </a:bodyPr>
              <a:lstStyle/>
              <a:p>
                <a:pPr algn="l">
                  <a:spcAft>
                    <a:spcPts val="0"/>
                  </a:spcAft>
                </a:pPr>
                <a:r>
                  <a:rPr sz="1350" b="1">
                    <a:solidFill>
                      <a:srgbClr val="2478FF"/>
                    </a:solidFill>
                    <a:latin typeface="Aptos"/>
                  </a:rPr>
                  <a:t>UPGRADED IMAGE PROMPT</a:t>
                </a: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4197096" y="2788920"/>
                <a:ext cx="6464808" cy="1499615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>
                <a:noAutofit/>
              </a:bodyPr>
              <a:lstStyle/>
              <a:p>
                <a:pPr algn="l">
                  <a:lnSpc>
                    <a:spcPct val="100000"/>
                  </a:lnSpc>
                  <a:spcAft>
                    <a:spcPts val="0"/>
                  </a:spcAft>
                </a:pPr>
                <a:r>
                  <a:rPr sz="1360" b="0" dirty="0">
                    <a:solidFill>
                      <a:srgbClr val="182438"/>
                    </a:solidFill>
                    <a:latin typeface="Aptos Mono"/>
                  </a:rPr>
                  <a:t>Create a </a:t>
                </a:r>
                <a:r>
                  <a:rPr sz="1360" b="1" dirty="0">
                    <a:solidFill>
                      <a:srgbClr val="2478FF"/>
                    </a:solidFill>
                    <a:latin typeface="Aptos Mono"/>
                  </a:rPr>
                  <a:t>landscape image of a futuristic classroom</a:t>
                </a:r>
                <a:r>
                  <a:rPr sz="1360" b="0" dirty="0">
                    <a:solidFill>
                      <a:srgbClr val="182438"/>
                    </a:solidFill>
                    <a:latin typeface="Aptos Mono"/>
                  </a:rPr>
                  <a:t>.</a:t>
                </a:r>
              </a:p>
              <a:p>
                <a:pPr algn="l">
                  <a:lnSpc>
                    <a:spcPct val="100000"/>
                  </a:lnSpc>
                  <a:spcAft>
                    <a:spcPts val="0"/>
                  </a:spcAft>
                </a:pPr>
                <a:r>
                  <a:rPr sz="1360" b="0" dirty="0">
                    <a:solidFill>
                      <a:srgbClr val="182438"/>
                    </a:solidFill>
                    <a:latin typeface="Aptos Mono"/>
                  </a:rPr>
                  <a:t>It is for </a:t>
                </a:r>
                <a:r>
                  <a:rPr sz="1360" b="1" dirty="0">
                    <a:solidFill>
                      <a:srgbClr val="FF6363"/>
                    </a:solidFill>
                    <a:latin typeface="Aptos Mono"/>
                  </a:rPr>
                  <a:t>16-19-year-old students learning about AI</a:t>
                </a:r>
                <a:r>
                  <a:rPr sz="1360" b="0" dirty="0">
                    <a:solidFill>
                      <a:srgbClr val="182438"/>
                    </a:solidFill>
                    <a:latin typeface="Aptos Mono"/>
                  </a:rPr>
                  <a:t>.</a:t>
                </a:r>
              </a:p>
              <a:p>
                <a:pPr algn="l">
                  <a:lnSpc>
                    <a:spcPct val="100000"/>
                  </a:lnSpc>
                  <a:spcAft>
                    <a:spcPts val="0"/>
                  </a:spcAft>
                </a:pPr>
                <a:r>
                  <a:rPr sz="1360" b="0" dirty="0">
                    <a:solidFill>
                      <a:srgbClr val="182438"/>
                    </a:solidFill>
                    <a:latin typeface="Aptos Mono"/>
                  </a:rPr>
                  <a:t>Show </a:t>
                </a:r>
                <a:r>
                  <a:rPr sz="1360" b="1" dirty="0">
                    <a:solidFill>
                      <a:srgbClr val="7EDFB2"/>
                    </a:solidFill>
                    <a:latin typeface="Aptos Mono"/>
                  </a:rPr>
                  <a:t>students exploring holograms, laptops and teamwork</a:t>
                </a:r>
                <a:r>
                  <a:rPr sz="1360" b="0" dirty="0">
                    <a:solidFill>
                      <a:srgbClr val="182438"/>
                    </a:solidFill>
                    <a:latin typeface="Aptos Mono"/>
                  </a:rPr>
                  <a:t>.</a:t>
                </a:r>
              </a:p>
              <a:p>
                <a:pPr algn="l">
                  <a:lnSpc>
                    <a:spcPct val="100000"/>
                  </a:lnSpc>
                  <a:spcAft>
                    <a:spcPts val="0"/>
                  </a:spcAft>
                </a:pPr>
                <a:r>
                  <a:rPr sz="1360" b="0" dirty="0">
                    <a:solidFill>
                      <a:srgbClr val="182438"/>
                    </a:solidFill>
                    <a:latin typeface="Aptos Mono"/>
                  </a:rPr>
                  <a:t>Use an </a:t>
                </a:r>
                <a:r>
                  <a:rPr sz="1360" b="1" dirty="0">
                    <a:solidFill>
                      <a:srgbClr val="FFD166"/>
                    </a:solidFill>
                    <a:latin typeface="Aptos Mono"/>
                  </a:rPr>
                  <a:t>optimistic, cinematic style with blue and coral accents</a:t>
                </a:r>
                <a:r>
                  <a:rPr sz="1360" b="0" dirty="0">
                    <a:solidFill>
                      <a:srgbClr val="182438"/>
                    </a:solidFill>
                    <a:latin typeface="Aptos Mono"/>
                  </a:rPr>
                  <a:t>.</a:t>
                </a:r>
              </a:p>
              <a:p>
                <a:pPr algn="l">
                  <a:lnSpc>
                    <a:spcPct val="100000"/>
                  </a:lnSpc>
                  <a:spcAft>
                    <a:spcPts val="0"/>
                  </a:spcAft>
                </a:pPr>
                <a:r>
                  <a:rPr sz="1360" b="0" dirty="0">
                    <a:solidFill>
                      <a:srgbClr val="182438"/>
                    </a:solidFill>
                    <a:latin typeface="Aptos Mono"/>
                  </a:rPr>
                  <a:t>Check it feels </a:t>
                </a:r>
                <a:r>
                  <a:rPr sz="1360" b="1" dirty="0">
                    <a:solidFill>
                      <a:srgbClr val="A78BFA"/>
                    </a:solidFill>
                    <a:latin typeface="Aptos Mono"/>
                  </a:rPr>
                  <a:t>clear, modern and not cluttered</a:t>
                </a:r>
                <a:r>
                  <a:rPr sz="1360" b="0" dirty="0">
                    <a:solidFill>
                      <a:srgbClr val="182438"/>
                    </a:solidFill>
                    <a:latin typeface="Aptos Mono"/>
                  </a:rPr>
                  <a:t>.</a:t>
                </a:r>
              </a:p>
            </p:txBody>
          </p:sp>
        </p:grpSp>
      </p:grpSp>
      <p:sp>
        <p:nvSpPr>
          <p:cNvPr id="38" name="Rectangle 37"/>
          <p:cNvSpPr/>
          <p:nvPr/>
        </p:nvSpPr>
        <p:spPr>
          <a:xfrm>
            <a:off x="749808" y="4983480"/>
            <a:ext cx="512064" cy="32004"/>
          </a:xfrm>
          <a:prstGeom prst="rect">
            <a:avLst/>
          </a:prstGeom>
          <a:solidFill>
            <a:srgbClr val="2478FF"/>
          </a:solidFill>
          <a:ln>
            <a:solidFill>
              <a:srgbClr val="24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353312" y="4919472"/>
            <a:ext cx="128016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960" b="1">
                <a:solidFill>
                  <a:srgbClr val="2478FF"/>
                </a:solidFill>
                <a:latin typeface="Aptos"/>
              </a:rPr>
              <a:t>GOAL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5376672"/>
            <a:ext cx="1874519" cy="658368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sz="1580" b="1">
                <a:solidFill>
                  <a:srgbClr val="182438"/>
                </a:solidFill>
                <a:latin typeface="Aptos"/>
              </a:rPr>
              <a:t>Landscape</a:t>
            </a:r>
            <a:br/>
            <a:r>
              <a:rPr sz="1580" b="1">
                <a:solidFill>
                  <a:srgbClr val="182438"/>
                </a:solidFill>
                <a:latin typeface="Aptos"/>
              </a:rPr>
              <a:t>image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88920" y="4983480"/>
            <a:ext cx="512064" cy="32004"/>
          </a:xfrm>
          <a:prstGeom prst="rect">
            <a:avLst/>
          </a:prstGeom>
          <a:solidFill>
            <a:srgbClr val="FF6363"/>
          </a:solidFill>
          <a:ln>
            <a:solidFill>
              <a:srgbClr val="FF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392424" y="4919472"/>
            <a:ext cx="128016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960" b="1">
                <a:solidFill>
                  <a:srgbClr val="FF6363"/>
                </a:solidFill>
                <a:latin typeface="Aptos"/>
              </a:rPr>
              <a:t>CONTEXT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97479" y="5376672"/>
            <a:ext cx="1874519" cy="658368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sz="1580" b="1">
                <a:solidFill>
                  <a:srgbClr val="182438"/>
                </a:solidFill>
                <a:latin typeface="Aptos"/>
              </a:rPr>
              <a:t>16-19 AI</a:t>
            </a:r>
            <a:br/>
            <a:r>
              <a:rPr sz="1580" b="1">
                <a:solidFill>
                  <a:srgbClr val="182438"/>
                </a:solidFill>
                <a:latin typeface="Aptos"/>
              </a:rPr>
              <a:t>learners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28032" y="4983480"/>
            <a:ext cx="512064" cy="32004"/>
          </a:xfrm>
          <a:prstGeom prst="rect">
            <a:avLst/>
          </a:prstGeom>
          <a:solidFill>
            <a:srgbClr val="7EDFB2"/>
          </a:solidFill>
          <a:ln>
            <a:solidFill>
              <a:srgbClr val="7ED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31536" y="4919472"/>
            <a:ext cx="128016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960" b="1">
                <a:solidFill>
                  <a:srgbClr val="7EDFB2"/>
                </a:solidFill>
                <a:latin typeface="Aptos"/>
              </a:rPr>
              <a:t>SPECIFICS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36592" y="5376672"/>
            <a:ext cx="1874519" cy="658368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sz="1580" b="1">
                <a:solidFill>
                  <a:srgbClr val="182438"/>
                </a:solidFill>
                <a:latin typeface="Aptos"/>
              </a:rPr>
              <a:t>Holograms,</a:t>
            </a:r>
            <a:br/>
            <a:r>
              <a:rPr sz="1580" b="1">
                <a:solidFill>
                  <a:srgbClr val="182438"/>
                </a:solidFill>
                <a:latin typeface="Aptos"/>
              </a:rPr>
              <a:t>laptops, team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67144" y="4983480"/>
            <a:ext cx="512064" cy="32004"/>
          </a:xfrm>
          <a:prstGeom prst="rect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470648" y="4919472"/>
            <a:ext cx="128016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960" b="1">
                <a:solidFill>
                  <a:srgbClr val="FFD166"/>
                </a:solidFill>
                <a:latin typeface="Aptos"/>
              </a:rPr>
              <a:t>CONSTRAINTS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75704" y="5376672"/>
            <a:ext cx="1874519" cy="658368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sz="1580" b="1">
                <a:solidFill>
                  <a:srgbClr val="182438"/>
                </a:solidFill>
                <a:latin typeface="Aptos"/>
              </a:rPr>
              <a:t>Cinematic +</a:t>
            </a:r>
            <a:br/>
            <a:r>
              <a:rPr sz="1580" b="1">
                <a:solidFill>
                  <a:srgbClr val="182438"/>
                </a:solidFill>
                <a:latin typeface="Aptos"/>
              </a:rPr>
              <a:t>blue/coral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06256" y="4983480"/>
            <a:ext cx="512064" cy="32004"/>
          </a:xfrm>
          <a:prstGeom prst="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509760" y="4919472"/>
            <a:ext cx="128016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960" b="1">
                <a:solidFill>
                  <a:srgbClr val="A78BFA"/>
                </a:solidFill>
                <a:latin typeface="Aptos"/>
              </a:rPr>
              <a:t>EVALUATION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14816" y="5376672"/>
            <a:ext cx="1874519" cy="658368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sz="1580" b="1">
                <a:solidFill>
                  <a:srgbClr val="182438"/>
                </a:solidFill>
                <a:latin typeface="Aptos"/>
              </a:rPr>
              <a:t>Clear, modern,</a:t>
            </a:r>
            <a:br/>
            <a:r>
              <a:rPr sz="1580" b="1">
                <a:solidFill>
                  <a:srgbClr val="182438"/>
                </a:solidFill>
                <a:latin typeface="Aptos"/>
              </a:rPr>
              <a:t>not cluttered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256032"/>
            <a:ext cx="1005840" cy="0"/>
          </a:xfrm>
          <a:prstGeom prst="line">
            <a:avLst/>
          </a:prstGeom>
          <a:noFill/>
          <a:ln w="63500">
            <a:solidFill>
              <a:srgbClr val="FF6363">
                <a:alpha val="78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064240" y="502920"/>
            <a:ext cx="502920" cy="0"/>
          </a:xfrm>
          <a:prstGeom prst="line">
            <a:avLst/>
          </a:prstGeom>
          <a:noFill/>
          <a:ln w="63500">
            <a:solidFill>
              <a:srgbClr val="FFD166">
                <a:alpha val="9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594360" y="374904"/>
            <a:ext cx="411480" cy="0"/>
          </a:xfrm>
          <a:prstGeom prst="line">
            <a:avLst/>
          </a:prstGeom>
          <a:noFill/>
          <a:ln w="38100">
            <a:solidFill>
              <a:srgbClr val="FF63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06424" y="30175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3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 PROMPTS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Prompting for PowerPoint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21792" y="13716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160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 the AI the brief, not just the topic.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6473952"/>
            <a:ext cx="9692640" cy="0"/>
          </a:xfrm>
          <a:prstGeom prst="line">
            <a:avLst/>
          </a:prstGeom>
          <a:noFill/>
          <a:ln w="12700">
            <a:solidFill>
              <a:srgbClr val="D8DC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94360" y="659282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160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Prompting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972800" y="657453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GB" sz="1000">
                <a:solidFill>
                  <a:srgbClr val="182438"/>
                </a:solidFill>
                <a:latin typeface="Aptos"/>
              </a:rPr>
              <a:t>14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3401568" y="3218688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lang="en-GB" sz="3000" b="1">
                <a:solidFill>
                  <a:srgbClr val="2478FF"/>
                </a:solidFill>
                <a:latin typeface="Aptos"/>
              </a:rPr>
              <a:t>→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DB52512-62E0-5FAE-BF4D-A76CD492B005}"/>
              </a:ext>
            </a:extLst>
          </p:cNvPr>
          <p:cNvGrpSpPr/>
          <p:nvPr/>
        </p:nvGrpSpPr>
        <p:grpSpPr>
          <a:xfrm>
            <a:off x="3977639" y="2542032"/>
            <a:ext cx="6903720" cy="1805940"/>
            <a:chOff x="3977639" y="1938528"/>
            <a:chExt cx="6903720" cy="1805940"/>
          </a:xfrm>
        </p:grpSpPr>
        <p:sp>
          <p:nvSpPr>
            <p:cNvPr id="15" name="Rounded Rectangle 14"/>
            <p:cNvSpPr/>
            <p:nvPr/>
          </p:nvSpPr>
          <p:spPr>
            <a:xfrm>
              <a:off x="3977639" y="1938528"/>
              <a:ext cx="6903720" cy="180594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5240">
              <a:solidFill>
                <a:srgbClr val="2478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09362E58-B6BA-0297-8D21-8059C6B0AFAD}"/>
                </a:ext>
              </a:extLst>
            </p:cNvPr>
            <p:cNvGrpSpPr/>
            <p:nvPr/>
          </p:nvGrpSpPr>
          <p:grpSpPr>
            <a:xfrm>
              <a:off x="4197096" y="2103121"/>
              <a:ext cx="6464808" cy="1476755"/>
              <a:chOff x="4197096" y="2084832"/>
              <a:chExt cx="6464808" cy="1476755"/>
            </a:xfrm>
          </p:grpSpPr>
          <p:sp>
            <p:nvSpPr>
              <p:cNvPr id="16" name="TextBox 15"/>
              <p:cNvSpPr txBox="1">
                <a:spLocks/>
              </p:cNvSpPr>
              <p:nvPr/>
            </p:nvSpPr>
            <p:spPr>
              <a:xfrm>
                <a:off x="4197096" y="2084832"/>
                <a:ext cx="6464808" cy="246888"/>
              </a:xfrm>
              <a:prstGeom prst="rect">
                <a:avLst/>
              </a:prstGeom>
              <a:noFill/>
            </p:spPr>
            <p:txBody>
              <a:bodyPr wrap="square" lIns="36576" tIns="18288" rIns="36576" bIns="18288">
                <a:noAutofit/>
              </a:bodyPr>
              <a:lstStyle/>
              <a:p>
                <a:pPr algn="l">
                  <a:spcAft>
                    <a:spcPts val="0"/>
                  </a:spcAft>
                </a:pPr>
                <a:r>
                  <a:rPr lang="en-GB" sz="1350" b="1">
                    <a:solidFill>
                      <a:srgbClr val="2478FF"/>
                    </a:solidFill>
                    <a:latin typeface="Aptos"/>
                  </a:rPr>
                  <a:t>UPGRADED PRESENTATION PROMPT</a:t>
                </a:r>
              </a:p>
            </p:txBody>
          </p:sp>
          <p:sp>
            <p:nvSpPr>
              <p:cNvPr id="17" name="TextBox 16"/>
              <p:cNvSpPr txBox="1">
                <a:spLocks/>
              </p:cNvSpPr>
              <p:nvPr/>
            </p:nvSpPr>
            <p:spPr>
              <a:xfrm>
                <a:off x="4197096" y="2404872"/>
                <a:ext cx="6464808" cy="1156715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>
                <a:noAutofit/>
              </a:bodyPr>
              <a:lstStyle/>
              <a:p>
                <a:pPr algn="l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GB" sz="1320" b="0" dirty="0">
                    <a:solidFill>
                      <a:srgbClr val="182438"/>
                    </a:solidFill>
                    <a:latin typeface="Aptos Mono"/>
                  </a:rPr>
                  <a:t>Create a </a:t>
                </a:r>
                <a:r>
                  <a:rPr lang="en-GB" sz="1320" b="1" dirty="0">
                    <a:solidFill>
                      <a:srgbClr val="2478FF"/>
                    </a:solidFill>
                    <a:latin typeface="Aptos Mono"/>
                  </a:rPr>
                  <a:t>5-slide presentation that teaches AI prompting</a:t>
                </a:r>
                <a:r>
                  <a:rPr lang="en-GB" sz="1320" b="0" dirty="0">
                    <a:solidFill>
                      <a:srgbClr val="182438"/>
                    </a:solidFill>
                    <a:latin typeface="Aptos Mono"/>
                  </a:rPr>
                  <a:t>.</a:t>
                </a:r>
              </a:p>
              <a:p>
                <a:pPr algn="l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GB" sz="1320" b="0" dirty="0">
                    <a:solidFill>
                      <a:srgbClr val="182438"/>
                    </a:solidFill>
                    <a:latin typeface="Aptos Mono"/>
                  </a:rPr>
                  <a:t>Audience: </a:t>
                </a:r>
                <a:r>
                  <a:rPr lang="en-GB" sz="1320" b="1" dirty="0">
                    <a:solidFill>
                      <a:srgbClr val="FF6363"/>
                    </a:solidFill>
                    <a:latin typeface="Aptos Mono"/>
                  </a:rPr>
                  <a:t>16-19-year-old students new to AI</a:t>
                </a:r>
                <a:r>
                  <a:rPr lang="en-GB" sz="1320" b="0" dirty="0">
                    <a:solidFill>
                      <a:srgbClr val="182438"/>
                    </a:solidFill>
                    <a:latin typeface="Aptos Mono"/>
                  </a:rPr>
                  <a:t>.</a:t>
                </a:r>
              </a:p>
              <a:p>
                <a:pPr algn="l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GB" sz="1320" b="0" dirty="0">
                    <a:solidFill>
                      <a:srgbClr val="182438"/>
                    </a:solidFill>
                    <a:latin typeface="Aptos Mono"/>
                  </a:rPr>
                  <a:t>Include </a:t>
                </a:r>
                <a:r>
                  <a:rPr lang="en-GB" sz="1320" b="1" dirty="0">
                    <a:solidFill>
                      <a:srgbClr val="7EDFB2"/>
                    </a:solidFill>
                    <a:latin typeface="Aptos Mono"/>
                  </a:rPr>
                  <a:t>title, big idea, GCSCE framework, examples and practice</a:t>
                </a:r>
                <a:r>
                  <a:rPr lang="en-GB" sz="1320" b="0" dirty="0">
                    <a:solidFill>
                      <a:srgbClr val="182438"/>
                    </a:solidFill>
                    <a:latin typeface="Aptos Mono"/>
                  </a:rPr>
                  <a:t>.</a:t>
                </a:r>
              </a:p>
              <a:p>
                <a:pPr algn="l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GB" sz="1320" b="0" dirty="0">
                    <a:solidFill>
                      <a:srgbClr val="182438"/>
                    </a:solidFill>
                    <a:latin typeface="Aptos Mono"/>
                  </a:rPr>
                  <a:t>Keep it </a:t>
                </a:r>
                <a:r>
                  <a:rPr lang="en-GB" sz="1320" b="1" dirty="0">
                    <a:solidFill>
                      <a:srgbClr val="FFD166"/>
                    </a:solidFill>
                    <a:latin typeface="Aptos Mono"/>
                  </a:rPr>
                  <a:t>visual, friendly and no more than 5 bullets per slide</a:t>
                </a:r>
                <a:r>
                  <a:rPr lang="en-GB" sz="1320" b="0" dirty="0">
                    <a:solidFill>
                      <a:srgbClr val="182438"/>
                    </a:solidFill>
                    <a:latin typeface="Aptos Mono"/>
                  </a:rPr>
                  <a:t>.</a:t>
                </a:r>
              </a:p>
              <a:p>
                <a:pPr algn="l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GB" sz="1320" b="0" dirty="0">
                    <a:solidFill>
                      <a:srgbClr val="182438"/>
                    </a:solidFill>
                    <a:latin typeface="Aptos Mono"/>
                  </a:rPr>
                  <a:t>Finish with </a:t>
                </a:r>
                <a:r>
                  <a:rPr lang="en-GB" sz="1320" b="1" dirty="0">
                    <a:solidFill>
                      <a:srgbClr val="A78BFA"/>
                    </a:solidFill>
                    <a:latin typeface="Aptos Mono"/>
                  </a:rPr>
                  <a:t>speaker notes and a 3-question check</a:t>
                </a:r>
                <a:r>
                  <a:rPr lang="en-GB" sz="1320" b="0" dirty="0">
                    <a:solidFill>
                      <a:srgbClr val="182438"/>
                    </a:solidFill>
                    <a:latin typeface="Aptos Mono"/>
                  </a:rPr>
                  <a:t>.</a:t>
                </a:r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C89BF6D-EE47-077D-69A9-B32608D90D86}"/>
              </a:ext>
            </a:extLst>
          </p:cNvPr>
          <p:cNvGrpSpPr/>
          <p:nvPr/>
        </p:nvGrpSpPr>
        <p:grpSpPr>
          <a:xfrm>
            <a:off x="749808" y="4645151"/>
            <a:ext cx="1883664" cy="237744"/>
            <a:chOff x="749808" y="4690871"/>
            <a:chExt cx="1883664" cy="237744"/>
          </a:xfrm>
        </p:grpSpPr>
        <p:sp>
          <p:nvSpPr>
            <p:cNvPr id="18" name="Rectangle 17"/>
            <p:cNvSpPr/>
            <p:nvPr/>
          </p:nvSpPr>
          <p:spPr>
            <a:xfrm>
              <a:off x="749808" y="4754879"/>
              <a:ext cx="512064" cy="32004"/>
            </a:xfrm>
            <a:prstGeom prst="rect">
              <a:avLst/>
            </a:prstGeom>
            <a:solidFill>
              <a:srgbClr val="2478FF"/>
            </a:solidFill>
            <a:ln>
              <a:solidFill>
                <a:srgbClr val="2478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TextBox 18"/>
            <p:cNvSpPr txBox="1">
              <a:spLocks/>
            </p:cNvSpPr>
            <p:nvPr/>
          </p:nvSpPr>
          <p:spPr>
            <a:xfrm>
              <a:off x="1353312" y="4690871"/>
              <a:ext cx="1280160" cy="237744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lang="en-GB" sz="960" b="1" dirty="0">
                  <a:solidFill>
                    <a:srgbClr val="2478FF"/>
                  </a:solidFill>
                  <a:latin typeface="Aptos"/>
                </a:rPr>
                <a:t>GOAL</a:t>
              </a:r>
            </a:p>
          </p:txBody>
        </p:sp>
      </p:grpSp>
      <p:sp>
        <p:nvSpPr>
          <p:cNvPr id="20" name="TextBox 19"/>
          <p:cNvSpPr txBox="1">
            <a:spLocks/>
          </p:cNvSpPr>
          <p:nvPr/>
        </p:nvSpPr>
        <p:spPr>
          <a:xfrm>
            <a:off x="658368" y="5180074"/>
            <a:ext cx="1874519" cy="658368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lang="en-GB" sz="1580" b="1" dirty="0">
                <a:solidFill>
                  <a:srgbClr val="182438"/>
                </a:solidFill>
                <a:latin typeface="Aptos"/>
              </a:rPr>
              <a:t>5-slide AI</a:t>
            </a:r>
            <a:br>
              <a:rPr lang="en-GB" dirty="0"/>
            </a:br>
            <a:r>
              <a:rPr lang="en-GB" sz="1580" b="1" dirty="0">
                <a:solidFill>
                  <a:srgbClr val="182438"/>
                </a:solidFill>
                <a:latin typeface="Aptos"/>
              </a:rPr>
              <a:t>prompting deck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31C56D3-DC25-81F2-3099-FB3827721373}"/>
              </a:ext>
            </a:extLst>
          </p:cNvPr>
          <p:cNvGrpSpPr/>
          <p:nvPr/>
        </p:nvGrpSpPr>
        <p:grpSpPr>
          <a:xfrm>
            <a:off x="2788920" y="4645151"/>
            <a:ext cx="1883664" cy="237744"/>
            <a:chOff x="2788920" y="4690871"/>
            <a:chExt cx="1883664" cy="237744"/>
          </a:xfrm>
        </p:grpSpPr>
        <p:sp>
          <p:nvSpPr>
            <p:cNvPr id="21" name="Rectangle 20"/>
            <p:cNvSpPr/>
            <p:nvPr/>
          </p:nvSpPr>
          <p:spPr>
            <a:xfrm>
              <a:off x="2788920" y="4754879"/>
              <a:ext cx="512064" cy="32004"/>
            </a:xfrm>
            <a:prstGeom prst="rect">
              <a:avLst/>
            </a:prstGeom>
            <a:solidFill>
              <a:srgbClr val="FF6363"/>
            </a:solidFill>
            <a:ln>
              <a:solidFill>
                <a:srgbClr val="FF636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TextBox 21"/>
            <p:cNvSpPr txBox="1">
              <a:spLocks/>
            </p:cNvSpPr>
            <p:nvPr/>
          </p:nvSpPr>
          <p:spPr>
            <a:xfrm>
              <a:off x="3392424" y="4690871"/>
              <a:ext cx="1280160" cy="237744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lang="en-GB" sz="960" b="1" dirty="0">
                  <a:solidFill>
                    <a:srgbClr val="FF6363"/>
                  </a:solidFill>
                  <a:latin typeface="Aptos"/>
                </a:rPr>
                <a:t>CONTEXT</a:t>
              </a:r>
            </a:p>
          </p:txBody>
        </p:sp>
      </p:grpSp>
      <p:sp>
        <p:nvSpPr>
          <p:cNvPr id="23" name="TextBox 22"/>
          <p:cNvSpPr txBox="1">
            <a:spLocks/>
          </p:cNvSpPr>
          <p:nvPr/>
        </p:nvSpPr>
        <p:spPr>
          <a:xfrm>
            <a:off x="2697479" y="5180074"/>
            <a:ext cx="1874519" cy="658368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lang="en-GB" sz="1580" b="1" dirty="0">
                <a:solidFill>
                  <a:srgbClr val="182438"/>
                </a:solidFill>
                <a:latin typeface="Aptos"/>
              </a:rPr>
              <a:t>16-19</a:t>
            </a:r>
            <a:br>
              <a:rPr lang="en-GB" dirty="0"/>
            </a:br>
            <a:r>
              <a:rPr lang="en-GB" sz="1580" b="1" dirty="0">
                <a:solidFill>
                  <a:srgbClr val="182438"/>
                </a:solidFill>
                <a:latin typeface="Aptos"/>
              </a:rPr>
              <a:t>beginners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C82449E-0EA6-E403-B549-4F1A693AB02C}"/>
              </a:ext>
            </a:extLst>
          </p:cNvPr>
          <p:cNvGrpSpPr/>
          <p:nvPr/>
        </p:nvGrpSpPr>
        <p:grpSpPr>
          <a:xfrm>
            <a:off x="4828032" y="4645151"/>
            <a:ext cx="1883664" cy="237744"/>
            <a:chOff x="4828032" y="4690871"/>
            <a:chExt cx="1883664" cy="237744"/>
          </a:xfrm>
        </p:grpSpPr>
        <p:sp>
          <p:nvSpPr>
            <p:cNvPr id="24" name="Rectangle 23"/>
            <p:cNvSpPr/>
            <p:nvPr/>
          </p:nvSpPr>
          <p:spPr>
            <a:xfrm>
              <a:off x="4828032" y="4754879"/>
              <a:ext cx="512064" cy="32004"/>
            </a:xfrm>
            <a:prstGeom prst="rect">
              <a:avLst/>
            </a:prstGeom>
            <a:solidFill>
              <a:srgbClr val="7EDFB2"/>
            </a:solidFill>
            <a:ln>
              <a:solidFill>
                <a:srgbClr val="7EDFB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TextBox 24"/>
            <p:cNvSpPr txBox="1">
              <a:spLocks/>
            </p:cNvSpPr>
            <p:nvPr/>
          </p:nvSpPr>
          <p:spPr>
            <a:xfrm>
              <a:off x="5431536" y="4690871"/>
              <a:ext cx="1280160" cy="237744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lang="en-GB" sz="960" b="1">
                  <a:solidFill>
                    <a:srgbClr val="7EDFB2"/>
                  </a:solidFill>
                  <a:latin typeface="Aptos"/>
                </a:rPr>
                <a:t>SPECIFICS</a:t>
              </a:r>
            </a:p>
          </p:txBody>
        </p:sp>
      </p:grpSp>
      <p:sp>
        <p:nvSpPr>
          <p:cNvPr id="26" name="TextBox 25"/>
          <p:cNvSpPr txBox="1">
            <a:spLocks/>
          </p:cNvSpPr>
          <p:nvPr/>
        </p:nvSpPr>
        <p:spPr>
          <a:xfrm>
            <a:off x="4736592" y="5180074"/>
            <a:ext cx="1874519" cy="658368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lang="en-GB" sz="1580" b="1">
                <a:solidFill>
                  <a:srgbClr val="182438"/>
                </a:solidFill>
                <a:latin typeface="Aptos"/>
              </a:rPr>
              <a:t>Title, idea,</a:t>
            </a:r>
            <a:br>
              <a:rPr lang="en-GB"/>
            </a:br>
            <a:r>
              <a:rPr lang="en-GB" sz="1580" b="1">
                <a:solidFill>
                  <a:srgbClr val="182438"/>
                </a:solidFill>
                <a:latin typeface="Aptos"/>
              </a:rPr>
              <a:t>framework, tasks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0A6C717-FA72-D4FE-1CAF-CFAA2B023A30}"/>
              </a:ext>
            </a:extLst>
          </p:cNvPr>
          <p:cNvGrpSpPr/>
          <p:nvPr/>
        </p:nvGrpSpPr>
        <p:grpSpPr>
          <a:xfrm>
            <a:off x="6867144" y="4645151"/>
            <a:ext cx="1883664" cy="237744"/>
            <a:chOff x="6867144" y="4690871"/>
            <a:chExt cx="1883664" cy="237744"/>
          </a:xfrm>
        </p:grpSpPr>
        <p:sp>
          <p:nvSpPr>
            <p:cNvPr id="27" name="Rectangle 26"/>
            <p:cNvSpPr/>
            <p:nvPr/>
          </p:nvSpPr>
          <p:spPr>
            <a:xfrm>
              <a:off x="6867144" y="4754879"/>
              <a:ext cx="512064" cy="32004"/>
            </a:xfrm>
            <a:prstGeom prst="rect">
              <a:avLst/>
            </a:prstGeom>
            <a:solidFill>
              <a:srgbClr val="FFD166"/>
            </a:solidFill>
            <a:ln>
              <a:solidFill>
                <a:srgbClr val="FFD1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TextBox 27"/>
            <p:cNvSpPr txBox="1">
              <a:spLocks/>
            </p:cNvSpPr>
            <p:nvPr/>
          </p:nvSpPr>
          <p:spPr>
            <a:xfrm>
              <a:off x="7470648" y="4690871"/>
              <a:ext cx="1280160" cy="237744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lang="en-GB" sz="960" b="1" dirty="0">
                  <a:solidFill>
                    <a:srgbClr val="FFD166"/>
                  </a:solidFill>
                  <a:latin typeface="Aptos"/>
                </a:rPr>
                <a:t>CONSTRAINTS</a:t>
              </a:r>
            </a:p>
          </p:txBody>
        </p:sp>
      </p:grpSp>
      <p:sp>
        <p:nvSpPr>
          <p:cNvPr id="29" name="TextBox 28"/>
          <p:cNvSpPr txBox="1">
            <a:spLocks/>
          </p:cNvSpPr>
          <p:nvPr/>
        </p:nvSpPr>
        <p:spPr>
          <a:xfrm>
            <a:off x="6775704" y="5180074"/>
            <a:ext cx="1874519" cy="658368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lang="en-GB" sz="1580" b="1">
                <a:solidFill>
                  <a:srgbClr val="182438"/>
                </a:solidFill>
                <a:latin typeface="Aptos"/>
              </a:rPr>
              <a:t>Visual, friendly,</a:t>
            </a:r>
            <a:br>
              <a:rPr lang="en-GB"/>
            </a:br>
            <a:r>
              <a:rPr lang="en-GB" sz="1580" b="1">
                <a:solidFill>
                  <a:srgbClr val="182438"/>
                </a:solidFill>
                <a:latin typeface="Aptos"/>
              </a:rPr>
              <a:t>≤5 bullets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8953409-0139-8A97-5DCB-6CD08BDDE6E9}"/>
              </a:ext>
            </a:extLst>
          </p:cNvPr>
          <p:cNvGrpSpPr/>
          <p:nvPr/>
        </p:nvGrpSpPr>
        <p:grpSpPr>
          <a:xfrm>
            <a:off x="8906256" y="4645151"/>
            <a:ext cx="1883664" cy="237744"/>
            <a:chOff x="8906256" y="4690871"/>
            <a:chExt cx="1883664" cy="237744"/>
          </a:xfrm>
        </p:grpSpPr>
        <p:sp>
          <p:nvSpPr>
            <p:cNvPr id="30" name="Rectangle 29"/>
            <p:cNvSpPr/>
            <p:nvPr/>
          </p:nvSpPr>
          <p:spPr>
            <a:xfrm>
              <a:off x="8906256" y="4754879"/>
              <a:ext cx="512064" cy="32004"/>
            </a:xfrm>
            <a:prstGeom prst="rect">
              <a:avLst/>
            </a:prstGeom>
            <a:solidFill>
              <a:srgbClr val="A78BFA"/>
            </a:solidFill>
            <a:ln>
              <a:solidFill>
                <a:srgbClr val="A78B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TextBox 30"/>
            <p:cNvSpPr txBox="1">
              <a:spLocks/>
            </p:cNvSpPr>
            <p:nvPr/>
          </p:nvSpPr>
          <p:spPr>
            <a:xfrm>
              <a:off x="9509760" y="4690871"/>
              <a:ext cx="1280160" cy="237744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lang="en-GB" sz="960" b="1">
                  <a:solidFill>
                    <a:srgbClr val="A78BFA"/>
                  </a:solidFill>
                  <a:latin typeface="Aptos"/>
                </a:rPr>
                <a:t>EVALUATION</a:t>
              </a:r>
            </a:p>
          </p:txBody>
        </p:sp>
      </p:grpSp>
      <p:sp>
        <p:nvSpPr>
          <p:cNvPr id="32" name="TextBox 31"/>
          <p:cNvSpPr txBox="1">
            <a:spLocks/>
          </p:cNvSpPr>
          <p:nvPr/>
        </p:nvSpPr>
        <p:spPr>
          <a:xfrm>
            <a:off x="8814816" y="5180074"/>
            <a:ext cx="1874519" cy="658368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lang="en-GB" sz="1580" b="1">
                <a:solidFill>
                  <a:srgbClr val="182438"/>
                </a:solidFill>
                <a:latin typeface="Aptos"/>
              </a:rPr>
              <a:t>Notes +</a:t>
            </a:r>
            <a:br>
              <a:rPr lang="en-GB"/>
            </a:br>
            <a:r>
              <a:rPr lang="en-GB" sz="1580" b="1">
                <a:solidFill>
                  <a:srgbClr val="182438"/>
                </a:solidFill>
                <a:latin typeface="Aptos"/>
              </a:rPr>
              <a:t>3-question check</a:t>
            </a:r>
          </a:p>
        </p:txBody>
      </p:sp>
      <p:sp>
        <p:nvSpPr>
          <p:cNvPr id="33" name="TextBox 32"/>
          <p:cNvSpPr txBox="1">
            <a:spLocks/>
          </p:cNvSpPr>
          <p:nvPr/>
        </p:nvSpPr>
        <p:spPr>
          <a:xfrm>
            <a:off x="960120" y="5952743"/>
            <a:ext cx="996696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lang="en-GB" sz="1800" b="1" dirty="0">
                <a:solidFill>
                  <a:srgbClr val="516071"/>
                </a:solidFill>
                <a:latin typeface="Aptos Display"/>
              </a:rPr>
              <a:t>Brief beats topic: Audience, structure, style and success check.</a:t>
            </a:r>
          </a:p>
        </p:txBody>
      </p:sp>
      <p:pic>
        <p:nvPicPr>
          <p:cNvPr id="42" name="PowerPoint Prompting Icon" descr="slide13_powerpoint_prompting_icon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639" y="1921753"/>
            <a:ext cx="1276947" cy="13320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FE08F8E1-1147-2241-E665-33EB23C10F07}"/>
              </a:ext>
            </a:extLst>
          </p:cNvPr>
          <p:cNvGrpSpPr/>
          <p:nvPr/>
        </p:nvGrpSpPr>
        <p:grpSpPr>
          <a:xfrm>
            <a:off x="804672" y="3346705"/>
            <a:ext cx="2468880" cy="987552"/>
            <a:chOff x="804672" y="3584448"/>
            <a:chExt cx="2468880" cy="987552"/>
          </a:xfrm>
        </p:grpSpPr>
        <p:sp>
          <p:nvSpPr>
            <p:cNvPr id="34" name="Rounded Rectangle 30">
              <a:extLst>
                <a:ext uri="{FF2B5EF4-FFF2-40B4-BE49-F238E27FC236}">
                  <a16:creationId xmlns:a16="http://schemas.microsoft.com/office/drawing/2014/main" id="{E808BBFE-955B-3073-6BF4-4E592CC2732F}"/>
                </a:ext>
              </a:extLst>
            </p:cNvPr>
            <p:cNvSpPr/>
            <p:nvPr/>
          </p:nvSpPr>
          <p:spPr>
            <a:xfrm>
              <a:off x="804672" y="3584448"/>
              <a:ext cx="2468880" cy="987552"/>
            </a:xfrm>
            <a:prstGeom prst="roundRect">
              <a:avLst>
                <a:gd name="adj" fmla="val 10000"/>
              </a:avLst>
            </a:prstGeom>
            <a:solidFill>
              <a:srgbClr val="FFEBEB"/>
            </a:solidFill>
            <a:ln w="15240">
              <a:solidFill>
                <a:srgbClr val="FF636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7DF5FBC-EF1C-E083-F60A-F29480CF1491}"/>
                </a:ext>
              </a:extLst>
            </p:cNvPr>
            <p:cNvSpPr txBox="1"/>
            <p:nvPr/>
          </p:nvSpPr>
          <p:spPr>
            <a:xfrm>
              <a:off x="969264" y="3703320"/>
              <a:ext cx="2139696" cy="228600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sz="1200" b="1">
                  <a:solidFill>
                    <a:srgbClr val="FF6363"/>
                  </a:solidFill>
                  <a:latin typeface="Aptos"/>
                </a:rPr>
                <a:t>START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A273AEC-0A62-6F8B-8BD9-B9B6035C9E09}"/>
                </a:ext>
              </a:extLst>
            </p:cNvPr>
            <p:cNvSpPr txBox="1"/>
            <p:nvPr/>
          </p:nvSpPr>
          <p:spPr>
            <a:xfrm>
              <a:off x="969264" y="3954779"/>
              <a:ext cx="2139696" cy="438912"/>
            </a:xfrm>
            <a:prstGeom prst="rect">
              <a:avLst/>
            </a:prstGeom>
            <a:noFill/>
          </p:spPr>
          <p:txBody>
            <a:bodyPr wrap="square" lIns="36576" tIns="18288" rIns="36576" bIns="18288" anchor="ctr"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lang="en-GB" sz="1550" b="0" dirty="0">
                  <a:solidFill>
                    <a:srgbClr val="182438"/>
                  </a:solidFill>
                  <a:latin typeface="Aptos"/>
                </a:rPr>
                <a:t>Make a presentation about AI.</a:t>
              </a:r>
              <a:endParaRPr sz="1550" b="0" dirty="0">
                <a:solidFill>
                  <a:srgbClr val="182438"/>
                </a:solidFill>
                <a:latin typeface="Apto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256032"/>
            <a:ext cx="1005840" cy="0"/>
          </a:xfrm>
          <a:prstGeom prst="line">
            <a:avLst/>
          </a:prstGeom>
          <a:noFill/>
          <a:ln w="63500">
            <a:solidFill>
              <a:srgbClr val="FF6363">
                <a:alpha val="78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064240" y="502920"/>
            <a:ext cx="502920" cy="0"/>
          </a:xfrm>
          <a:prstGeom prst="line">
            <a:avLst/>
          </a:prstGeom>
          <a:noFill/>
          <a:ln w="63500">
            <a:solidFill>
              <a:srgbClr val="FFD166">
                <a:alpha val="9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594360" y="374904"/>
            <a:ext cx="411480" cy="0"/>
          </a:xfrm>
          <a:prstGeom prst="line">
            <a:avLst/>
          </a:prstGeom>
          <a:noFill/>
          <a:ln w="38100">
            <a:solidFill>
              <a:srgbClr val="FF63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06424" y="30175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3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AI SMARTLY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human still matters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21792" y="137160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160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help you think — it should not replace your thinking.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6473952"/>
            <a:ext cx="9692640" cy="0"/>
          </a:xfrm>
          <a:prstGeom prst="line">
            <a:avLst/>
          </a:prstGeom>
          <a:noFill/>
          <a:ln w="12700">
            <a:solidFill>
              <a:srgbClr val="D8DC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94360" y="659282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160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Prompting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972800" y="657453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GB" sz="1000">
                <a:solidFill>
                  <a:srgbClr val="182438"/>
                </a:solidFill>
                <a:latin typeface="Aptos"/>
              </a:rPr>
              <a:t>15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C047347-4CF5-E117-E9A7-EC70E2ECD7D5}"/>
              </a:ext>
            </a:extLst>
          </p:cNvPr>
          <p:cNvGrpSpPr/>
          <p:nvPr/>
        </p:nvGrpSpPr>
        <p:grpSpPr>
          <a:xfrm>
            <a:off x="4300728" y="2524222"/>
            <a:ext cx="7022592" cy="2577162"/>
            <a:chOff x="4300728" y="2129106"/>
            <a:chExt cx="7022592" cy="2577162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62526A7-9919-5C79-DB54-D2746C81B158}"/>
                </a:ext>
              </a:extLst>
            </p:cNvPr>
            <p:cNvGrpSpPr/>
            <p:nvPr/>
          </p:nvGrpSpPr>
          <p:grpSpPr>
            <a:xfrm>
              <a:off x="4300728" y="2129106"/>
              <a:ext cx="7022592" cy="310896"/>
              <a:chOff x="3657600" y="1837944"/>
              <a:chExt cx="7022592" cy="310896"/>
            </a:xfrm>
          </p:grpSpPr>
          <p:sp>
            <p:nvSpPr>
              <p:cNvPr id="12" name="Shape 9"/>
              <p:cNvSpPr/>
              <p:nvPr/>
            </p:nvSpPr>
            <p:spPr>
              <a:xfrm>
                <a:off x="3657600" y="1993392"/>
                <a:ext cx="548640" cy="0"/>
              </a:xfrm>
              <a:prstGeom prst="line">
                <a:avLst/>
              </a:prstGeom>
              <a:noFill/>
              <a:ln w="63500">
                <a:solidFill>
                  <a:srgbClr val="2478FF"/>
                </a:solidFill>
                <a:prstDash val="solid"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" name="Text 10"/>
              <p:cNvSpPr/>
              <p:nvPr/>
            </p:nvSpPr>
            <p:spPr>
              <a:xfrm>
                <a:off x="4370832" y="1837944"/>
                <a:ext cx="283464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300" b="1" dirty="0">
                    <a:solidFill>
                      <a:srgbClr val="162033"/>
                    </a:solidFill>
                    <a:latin typeface="Aptos Display" pitchFamily="34" charset="0"/>
                    <a:ea typeface="Aptos Display" pitchFamily="34" charset="-122"/>
                    <a:cs typeface="Aptos Display" pitchFamily="34" charset="-120"/>
                  </a:rPr>
                  <a:t>Check accuracy</a:t>
                </a:r>
                <a:endParaRPr lang="en-US" sz="2300" dirty="0"/>
              </a:p>
            </p:txBody>
          </p:sp>
          <p:sp>
            <p:nvSpPr>
              <p:cNvPr id="14" name="Text 11"/>
              <p:cNvSpPr/>
              <p:nvPr/>
            </p:nvSpPr>
            <p:spPr>
              <a:xfrm>
                <a:off x="7205472" y="1837944"/>
                <a:ext cx="347472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650" dirty="0">
                    <a:solidFill>
                      <a:srgbClr val="51607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Important facts need checking.</a:t>
                </a:r>
                <a:endParaRPr lang="en-US" sz="1650" dirty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F586A585-2DC8-ABBA-EE48-78C09D6BF115}"/>
                </a:ext>
              </a:extLst>
            </p:cNvPr>
            <p:cNvGrpSpPr/>
            <p:nvPr/>
          </p:nvGrpSpPr>
          <p:grpSpPr>
            <a:xfrm>
              <a:off x="4300728" y="3235530"/>
              <a:ext cx="7022592" cy="310896"/>
              <a:chOff x="3657600" y="2916936"/>
              <a:chExt cx="7022592" cy="310896"/>
            </a:xfrm>
          </p:grpSpPr>
          <p:sp>
            <p:nvSpPr>
              <p:cNvPr id="15" name="Shape 12"/>
              <p:cNvSpPr/>
              <p:nvPr/>
            </p:nvSpPr>
            <p:spPr>
              <a:xfrm>
                <a:off x="3657600" y="3072384"/>
                <a:ext cx="548640" cy="0"/>
              </a:xfrm>
              <a:prstGeom prst="line">
                <a:avLst/>
              </a:prstGeom>
              <a:noFill/>
              <a:ln w="63500">
                <a:solidFill>
                  <a:srgbClr val="FF6363"/>
                </a:solidFill>
                <a:prstDash val="solid"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" name="Text 13"/>
              <p:cNvSpPr/>
              <p:nvPr/>
            </p:nvSpPr>
            <p:spPr>
              <a:xfrm>
                <a:off x="4370832" y="2916936"/>
                <a:ext cx="283464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300" b="1" dirty="0">
                    <a:solidFill>
                      <a:srgbClr val="162033"/>
                    </a:solidFill>
                    <a:latin typeface="Aptos Display" pitchFamily="34" charset="0"/>
                    <a:ea typeface="Aptos Display" pitchFamily="34" charset="-122"/>
                    <a:cs typeface="Aptos Display" pitchFamily="34" charset="-120"/>
                  </a:rPr>
                  <a:t>Protect privacy</a:t>
                </a:r>
                <a:endParaRPr lang="en-US" sz="2300" dirty="0"/>
              </a:p>
            </p:txBody>
          </p:sp>
          <p:sp>
            <p:nvSpPr>
              <p:cNvPr id="17" name="Text 14"/>
              <p:cNvSpPr/>
              <p:nvPr/>
            </p:nvSpPr>
            <p:spPr>
              <a:xfrm>
                <a:off x="7205472" y="2916936"/>
                <a:ext cx="347472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650" dirty="0">
                    <a:solidFill>
                      <a:srgbClr val="51607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Do not share sensitive details.</a:t>
                </a:r>
                <a:endParaRPr lang="en-US" sz="1650" dirty="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6E8C884-11E2-1923-2EC5-B5BEB847D30C}"/>
                </a:ext>
              </a:extLst>
            </p:cNvPr>
            <p:cNvGrpSpPr/>
            <p:nvPr/>
          </p:nvGrpSpPr>
          <p:grpSpPr>
            <a:xfrm>
              <a:off x="4300728" y="4395372"/>
              <a:ext cx="7022592" cy="310896"/>
              <a:chOff x="3657600" y="3995928"/>
              <a:chExt cx="7022592" cy="310896"/>
            </a:xfrm>
          </p:grpSpPr>
          <p:sp>
            <p:nvSpPr>
              <p:cNvPr id="18" name="Shape 15"/>
              <p:cNvSpPr/>
              <p:nvPr/>
            </p:nvSpPr>
            <p:spPr>
              <a:xfrm>
                <a:off x="3657600" y="4151376"/>
                <a:ext cx="548640" cy="0"/>
              </a:xfrm>
              <a:prstGeom prst="line">
                <a:avLst/>
              </a:prstGeom>
              <a:noFill/>
              <a:ln w="63500">
                <a:solidFill>
                  <a:srgbClr val="7EDFB2"/>
                </a:solidFill>
                <a:prstDash val="solid"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" name="Text 16"/>
              <p:cNvSpPr/>
              <p:nvPr/>
            </p:nvSpPr>
            <p:spPr>
              <a:xfrm>
                <a:off x="4370832" y="3995928"/>
                <a:ext cx="283464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300" b="1" dirty="0">
                    <a:solidFill>
                      <a:srgbClr val="162033"/>
                    </a:solidFill>
                    <a:latin typeface="Aptos Display" pitchFamily="34" charset="0"/>
                    <a:ea typeface="Aptos Display" pitchFamily="34" charset="-122"/>
                    <a:cs typeface="Aptos Display" pitchFamily="34" charset="-120"/>
                  </a:rPr>
                  <a:t>Make it yours</a:t>
                </a:r>
                <a:endParaRPr lang="en-US" sz="2300" dirty="0"/>
              </a:p>
            </p:txBody>
          </p:sp>
          <p:sp>
            <p:nvSpPr>
              <p:cNvPr id="20" name="Text 17"/>
              <p:cNvSpPr/>
              <p:nvPr/>
            </p:nvSpPr>
            <p:spPr>
              <a:xfrm>
                <a:off x="7205472" y="3995928"/>
                <a:ext cx="347472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650" dirty="0">
                    <a:solidFill>
                      <a:srgbClr val="51607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Edit the answer so it sounds like you.</a:t>
                </a:r>
                <a:endParaRPr lang="en-US" sz="1650" dirty="0"/>
              </a:p>
            </p:txBody>
          </p:sp>
        </p:grpSp>
      </p:grpSp>
      <p:sp>
        <p:nvSpPr>
          <p:cNvPr id="22" name="Text 19"/>
          <p:cNvSpPr/>
          <p:nvPr/>
        </p:nvSpPr>
        <p:spPr>
          <a:xfrm>
            <a:off x="0" y="5812692"/>
            <a:ext cx="12192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Remember… AI is a draft partner, not an autopilot.</a:t>
            </a:r>
            <a:endParaRPr lang="en-US" sz="2200" dirty="0"/>
          </a:p>
        </p:txBody>
      </p:sp>
      <p:pic>
        <p:nvPicPr>
          <p:cNvPr id="23" name="Image 0" descr="slide13_shape11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938105"/>
            <a:ext cx="2331720" cy="17493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256032"/>
            <a:ext cx="1005840" cy="0"/>
          </a:xfrm>
          <a:prstGeom prst="line">
            <a:avLst/>
          </a:prstGeom>
          <a:noFill/>
          <a:ln w="63500">
            <a:solidFill>
              <a:srgbClr val="FF6363">
                <a:alpha val="78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064240" y="502920"/>
            <a:ext cx="502920" cy="0"/>
          </a:xfrm>
          <a:prstGeom prst="line">
            <a:avLst/>
          </a:prstGeom>
          <a:noFill/>
          <a:ln w="63500">
            <a:solidFill>
              <a:srgbClr val="FFD166">
                <a:alpha val="9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594360" y="374904"/>
            <a:ext cx="411480" cy="0"/>
          </a:xfrm>
          <a:prstGeom prst="line">
            <a:avLst/>
          </a:prstGeom>
          <a:noFill/>
          <a:ln w="38100">
            <a:solidFill>
              <a:srgbClr val="FF63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06424" y="30175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3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LADDER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prompting levels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21792" y="13716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160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level up your prompts.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6473952"/>
            <a:ext cx="9692640" cy="0"/>
          </a:xfrm>
          <a:prstGeom prst="line">
            <a:avLst/>
          </a:prstGeom>
          <a:noFill/>
          <a:ln w="12700">
            <a:solidFill>
              <a:srgbClr val="D8DC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94360" y="659282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160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Prompting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972800" y="657453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GB" sz="1000">
                <a:solidFill>
                  <a:srgbClr val="182438"/>
                </a:solidFill>
                <a:latin typeface="Aptos"/>
              </a:rPr>
              <a:t>16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812C1C3-E03D-0719-9233-90D58A57DB6F}"/>
              </a:ext>
            </a:extLst>
          </p:cNvPr>
          <p:cNvGrpSpPr/>
          <p:nvPr/>
        </p:nvGrpSpPr>
        <p:grpSpPr>
          <a:xfrm>
            <a:off x="621792" y="2628900"/>
            <a:ext cx="2697480" cy="1600200"/>
            <a:chOff x="960120" y="3941064"/>
            <a:chExt cx="2697480" cy="1600200"/>
          </a:xfrm>
        </p:grpSpPr>
        <p:sp>
          <p:nvSpPr>
            <p:cNvPr id="11" name="Shape 9"/>
            <p:cNvSpPr/>
            <p:nvPr/>
          </p:nvSpPr>
          <p:spPr>
            <a:xfrm>
              <a:off x="960120" y="3941064"/>
              <a:ext cx="1097280" cy="0"/>
            </a:xfrm>
            <a:prstGeom prst="line">
              <a:avLst/>
            </a:prstGeom>
            <a:noFill/>
            <a:ln w="76200">
              <a:solidFill>
                <a:srgbClr val="7EDFB2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 10"/>
            <p:cNvSpPr/>
            <p:nvPr/>
          </p:nvSpPr>
          <p:spPr>
            <a:xfrm>
              <a:off x="960120" y="4206240"/>
              <a:ext cx="265176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16203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Basic</a:t>
              </a:r>
              <a:endParaRPr lang="en-US" sz="24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960120" y="4636008"/>
              <a:ext cx="2651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550" b="1" dirty="0">
                  <a:solidFill>
                    <a:srgbClr val="7EDFB2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Ask clearly</a:t>
              </a:r>
              <a:endParaRPr lang="en-US" sz="1550" dirty="0">
                <a:solidFill>
                  <a:srgbClr val="7EDFB2"/>
                </a:solidFill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960120" y="5029200"/>
              <a:ext cx="269748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20" dirty="0">
                  <a:solidFill>
                    <a:srgbClr val="51607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Explain photosynthesis.</a:t>
              </a:r>
              <a:endParaRPr lang="en-US" sz="142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E1B0B04-6FF5-8146-ECA3-33307D4427AF}"/>
              </a:ext>
            </a:extLst>
          </p:cNvPr>
          <p:cNvGrpSpPr/>
          <p:nvPr/>
        </p:nvGrpSpPr>
        <p:grpSpPr>
          <a:xfrm>
            <a:off x="4747260" y="2628900"/>
            <a:ext cx="2697480" cy="1600200"/>
            <a:chOff x="4389120" y="2980944"/>
            <a:chExt cx="2697480" cy="1600200"/>
          </a:xfrm>
        </p:grpSpPr>
        <p:sp>
          <p:nvSpPr>
            <p:cNvPr id="16" name="Shape 14"/>
            <p:cNvSpPr/>
            <p:nvPr/>
          </p:nvSpPr>
          <p:spPr>
            <a:xfrm>
              <a:off x="4389120" y="2980944"/>
              <a:ext cx="1097280" cy="0"/>
            </a:xfrm>
            <a:prstGeom prst="line">
              <a:avLst/>
            </a:prstGeom>
            <a:noFill/>
            <a:ln w="76200">
              <a:solidFill>
                <a:srgbClr val="FFD166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Text 15"/>
            <p:cNvSpPr/>
            <p:nvPr/>
          </p:nvSpPr>
          <p:spPr>
            <a:xfrm>
              <a:off x="4389120" y="3246120"/>
              <a:ext cx="265176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16203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Intermediate</a:t>
              </a:r>
              <a:endParaRPr lang="en-US" sz="24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4389120" y="3675888"/>
              <a:ext cx="26517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550" b="1" dirty="0">
                  <a:solidFill>
                    <a:srgbClr val="FFD166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Add context + format</a:t>
              </a:r>
              <a:endParaRPr lang="en-US" sz="1550" dirty="0">
                <a:solidFill>
                  <a:srgbClr val="FFD166"/>
                </a:solidFill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4389120" y="4069080"/>
              <a:ext cx="269748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20" dirty="0">
                  <a:solidFill>
                    <a:srgbClr val="51607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Explain it for GCSE Biology in bullet points.</a:t>
              </a:r>
              <a:endParaRPr lang="en-US" sz="142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1289BBF-7402-A891-18AE-D607E9E4AE7E}"/>
              </a:ext>
            </a:extLst>
          </p:cNvPr>
          <p:cNvGrpSpPr/>
          <p:nvPr/>
        </p:nvGrpSpPr>
        <p:grpSpPr>
          <a:xfrm>
            <a:off x="8869680" y="2628900"/>
            <a:ext cx="2697480" cy="1600200"/>
            <a:chOff x="7818120" y="2020824"/>
            <a:chExt cx="2697480" cy="1600200"/>
          </a:xfrm>
        </p:grpSpPr>
        <p:sp>
          <p:nvSpPr>
            <p:cNvPr id="21" name="Shape 19"/>
            <p:cNvSpPr/>
            <p:nvPr/>
          </p:nvSpPr>
          <p:spPr>
            <a:xfrm>
              <a:off x="7818120" y="2020824"/>
              <a:ext cx="1097280" cy="0"/>
            </a:xfrm>
            <a:prstGeom prst="line">
              <a:avLst/>
            </a:prstGeom>
            <a:noFill/>
            <a:ln w="76200">
              <a:solidFill>
                <a:srgbClr val="FF6363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Text 20"/>
            <p:cNvSpPr/>
            <p:nvPr/>
          </p:nvSpPr>
          <p:spPr>
            <a:xfrm>
              <a:off x="7818120" y="2286000"/>
              <a:ext cx="265176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16203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Advanced</a:t>
              </a:r>
              <a:endParaRPr lang="en-US" sz="24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7818120" y="2715768"/>
              <a:ext cx="26517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550" b="1" dirty="0">
                  <a:solidFill>
                    <a:srgbClr val="FF636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Add role + process</a:t>
              </a:r>
              <a:endParaRPr lang="en-US" sz="1550" dirty="0">
                <a:solidFill>
                  <a:srgbClr val="FF6363"/>
                </a:solidFill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7818120" y="3108960"/>
              <a:ext cx="269748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20" dirty="0">
                  <a:solidFill>
                    <a:srgbClr val="51607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Act as a tutor: explain, quiz, correct me.</a:t>
              </a:r>
              <a:endParaRPr lang="en-US" sz="1420" dirty="0"/>
            </a:p>
          </p:txBody>
        </p:sp>
      </p:grpSp>
      <p:sp>
        <p:nvSpPr>
          <p:cNvPr id="26" name="Text 24"/>
          <p:cNvSpPr/>
          <p:nvPr/>
        </p:nvSpPr>
        <p:spPr>
          <a:xfrm>
            <a:off x="3291840" y="5232654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1607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Better instructions → better help</a:t>
            </a:r>
            <a:endParaRPr lang="en-US" sz="2000" dirty="0">
              <a:solidFill>
                <a:srgbClr val="51607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256032"/>
            <a:ext cx="1005840" cy="0"/>
          </a:xfrm>
          <a:prstGeom prst="line">
            <a:avLst/>
          </a:prstGeom>
          <a:noFill/>
          <a:ln w="63500">
            <a:solidFill>
              <a:srgbClr val="FF6363">
                <a:alpha val="78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064240" y="502920"/>
            <a:ext cx="502920" cy="0"/>
          </a:xfrm>
          <a:prstGeom prst="line">
            <a:avLst/>
          </a:prstGeom>
          <a:noFill/>
          <a:ln w="63500">
            <a:solidFill>
              <a:srgbClr val="FFD166">
                <a:alpha val="9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594360" y="374904"/>
            <a:ext cx="411480" cy="0"/>
          </a:xfrm>
          <a:prstGeom prst="line">
            <a:avLst/>
          </a:prstGeom>
          <a:noFill/>
          <a:ln w="38100">
            <a:solidFill>
              <a:srgbClr val="FF63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06424" y="30175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3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TO ACTION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you press Enter…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21792" y="13716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160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Ask: have I given enough instructions?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6473952"/>
            <a:ext cx="9692640" cy="0"/>
          </a:xfrm>
          <a:prstGeom prst="line">
            <a:avLst/>
          </a:prstGeom>
          <a:noFill/>
          <a:ln w="12700">
            <a:solidFill>
              <a:srgbClr val="D8DC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94360" y="659282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160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Prompting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972800" y="657453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GB" sz="1000">
                <a:solidFill>
                  <a:srgbClr val="182438"/>
                </a:solidFill>
                <a:latin typeface="Aptos"/>
              </a:rPr>
              <a:t>17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A316409-25DD-D3C8-0499-4BE9068F804C}"/>
              </a:ext>
            </a:extLst>
          </p:cNvPr>
          <p:cNvGrpSpPr/>
          <p:nvPr/>
        </p:nvGrpSpPr>
        <p:grpSpPr>
          <a:xfrm>
            <a:off x="3200400" y="2203704"/>
            <a:ext cx="7498080" cy="2450592"/>
            <a:chOff x="3200400" y="1901952"/>
            <a:chExt cx="7498080" cy="2450592"/>
          </a:xfrm>
        </p:grpSpPr>
        <p:sp>
          <p:nvSpPr>
            <p:cNvPr id="12" name="Shape 9"/>
            <p:cNvSpPr/>
            <p:nvPr/>
          </p:nvSpPr>
          <p:spPr>
            <a:xfrm>
              <a:off x="3200400" y="2075688"/>
              <a:ext cx="475488" cy="0"/>
            </a:xfrm>
            <a:prstGeom prst="line">
              <a:avLst/>
            </a:prstGeom>
            <a:noFill/>
            <a:ln w="63500">
              <a:solidFill>
                <a:srgbClr val="2478FF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 10"/>
            <p:cNvSpPr/>
            <p:nvPr/>
          </p:nvSpPr>
          <p:spPr>
            <a:xfrm>
              <a:off x="3840480" y="1901952"/>
              <a:ext cx="14173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6203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Goal</a:t>
              </a:r>
              <a:endParaRPr lang="en-US" sz="20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3840480" y="2267712"/>
              <a:ext cx="2926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50" dirty="0">
                  <a:solidFill>
                    <a:srgbClr val="51607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What do I want?</a:t>
              </a:r>
              <a:endParaRPr lang="en-US" sz="1450" dirty="0"/>
            </a:p>
          </p:txBody>
        </p:sp>
        <p:sp>
          <p:nvSpPr>
            <p:cNvPr id="15" name="Shape 12"/>
            <p:cNvSpPr/>
            <p:nvPr/>
          </p:nvSpPr>
          <p:spPr>
            <a:xfrm>
              <a:off x="7132320" y="2075688"/>
              <a:ext cx="475488" cy="0"/>
            </a:xfrm>
            <a:prstGeom prst="line">
              <a:avLst/>
            </a:prstGeom>
            <a:noFill/>
            <a:ln w="63500">
              <a:solidFill>
                <a:srgbClr val="FF6363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 13"/>
            <p:cNvSpPr/>
            <p:nvPr/>
          </p:nvSpPr>
          <p:spPr>
            <a:xfrm>
              <a:off x="7772400" y="1901952"/>
              <a:ext cx="14173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6203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Context</a:t>
              </a:r>
              <a:endParaRPr lang="en-US" sz="200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7772400" y="2267712"/>
              <a:ext cx="2926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50" dirty="0">
                  <a:solidFill>
                    <a:srgbClr val="51607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What should AI know?</a:t>
              </a:r>
              <a:endParaRPr lang="en-US" sz="1450" dirty="0"/>
            </a:p>
          </p:txBody>
        </p:sp>
        <p:sp>
          <p:nvSpPr>
            <p:cNvPr id="18" name="Shape 15"/>
            <p:cNvSpPr/>
            <p:nvPr/>
          </p:nvSpPr>
          <p:spPr>
            <a:xfrm>
              <a:off x="3200400" y="2990088"/>
              <a:ext cx="475488" cy="0"/>
            </a:xfrm>
            <a:prstGeom prst="line">
              <a:avLst/>
            </a:prstGeom>
            <a:noFill/>
            <a:ln w="63500">
              <a:solidFill>
                <a:srgbClr val="7EDFB2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Text 16"/>
            <p:cNvSpPr/>
            <p:nvPr/>
          </p:nvSpPr>
          <p:spPr>
            <a:xfrm>
              <a:off x="3840480" y="2816352"/>
              <a:ext cx="14173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6203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Specifics</a:t>
              </a:r>
              <a:endParaRPr lang="en-US" sz="2000" dirty="0"/>
            </a:p>
          </p:txBody>
        </p:sp>
        <p:sp>
          <p:nvSpPr>
            <p:cNvPr id="20" name="Text 17"/>
            <p:cNvSpPr/>
            <p:nvPr/>
          </p:nvSpPr>
          <p:spPr>
            <a:xfrm>
              <a:off x="3840480" y="3182112"/>
              <a:ext cx="2926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50" dirty="0">
                  <a:solidFill>
                    <a:srgbClr val="51607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What must be included?</a:t>
              </a:r>
              <a:endParaRPr lang="en-US" sz="1450" dirty="0"/>
            </a:p>
          </p:txBody>
        </p:sp>
        <p:sp>
          <p:nvSpPr>
            <p:cNvPr id="21" name="Shape 18"/>
            <p:cNvSpPr/>
            <p:nvPr/>
          </p:nvSpPr>
          <p:spPr>
            <a:xfrm>
              <a:off x="7132320" y="2990088"/>
              <a:ext cx="475488" cy="0"/>
            </a:xfrm>
            <a:prstGeom prst="line">
              <a:avLst/>
            </a:prstGeom>
            <a:noFill/>
            <a:ln w="63500">
              <a:solidFill>
                <a:srgbClr val="FFD166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Text 19"/>
            <p:cNvSpPr/>
            <p:nvPr/>
          </p:nvSpPr>
          <p:spPr>
            <a:xfrm>
              <a:off x="7772400" y="2816352"/>
              <a:ext cx="14173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6203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Constraints</a:t>
              </a:r>
              <a:endParaRPr lang="en-US" sz="2000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7772400" y="3182112"/>
              <a:ext cx="2926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50" dirty="0">
                  <a:solidFill>
                    <a:srgbClr val="51607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How long, what tone, what format?</a:t>
              </a:r>
              <a:endParaRPr lang="en-US" sz="1450" dirty="0"/>
            </a:p>
          </p:txBody>
        </p:sp>
        <p:sp>
          <p:nvSpPr>
            <p:cNvPr id="24" name="Shape 21"/>
            <p:cNvSpPr/>
            <p:nvPr/>
          </p:nvSpPr>
          <p:spPr>
            <a:xfrm>
              <a:off x="3200400" y="3904488"/>
              <a:ext cx="475488" cy="0"/>
            </a:xfrm>
            <a:prstGeom prst="line">
              <a:avLst/>
            </a:prstGeom>
            <a:noFill/>
            <a:ln w="6350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Text 22"/>
            <p:cNvSpPr/>
            <p:nvPr/>
          </p:nvSpPr>
          <p:spPr>
            <a:xfrm>
              <a:off x="3840480" y="3730752"/>
              <a:ext cx="14173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6203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Evaluate</a:t>
              </a:r>
              <a:endParaRPr lang="en-US" sz="2000" dirty="0"/>
            </a:p>
          </p:txBody>
        </p:sp>
        <p:sp>
          <p:nvSpPr>
            <p:cNvPr id="26" name="Text 23"/>
            <p:cNvSpPr/>
            <p:nvPr/>
          </p:nvSpPr>
          <p:spPr>
            <a:xfrm>
              <a:off x="3840480" y="4096512"/>
              <a:ext cx="2926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50" dirty="0">
                  <a:solidFill>
                    <a:srgbClr val="51607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How should it improve or check?</a:t>
              </a:r>
              <a:endParaRPr lang="en-US" sz="1450" dirty="0"/>
            </a:p>
          </p:txBody>
        </p:sp>
      </p:grpSp>
      <p:sp>
        <p:nvSpPr>
          <p:cNvPr id="27" name="Text 24"/>
          <p:cNvSpPr/>
          <p:nvPr/>
        </p:nvSpPr>
        <p:spPr>
          <a:xfrm>
            <a:off x="914400" y="5550408"/>
            <a:ext cx="10195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63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If the answer is not good enough, improve the prompt.</a:t>
            </a:r>
            <a:endParaRPr lang="en-US" sz="2700" dirty="0"/>
          </a:p>
        </p:txBody>
      </p:sp>
      <p:pic>
        <p:nvPicPr>
          <p:cNvPr id="28" name="Image 0" descr="slide15_shape11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906" y="2560320"/>
            <a:ext cx="1611228" cy="17373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256032"/>
            <a:ext cx="1005840" cy="0"/>
          </a:xfrm>
          <a:prstGeom prst="line">
            <a:avLst/>
          </a:prstGeom>
          <a:noFill/>
          <a:ln w="63500">
            <a:solidFill>
              <a:srgbClr val="FF6363">
                <a:alpha val="78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064240" y="502920"/>
            <a:ext cx="502920" cy="0"/>
          </a:xfrm>
          <a:prstGeom prst="line">
            <a:avLst/>
          </a:prstGeom>
          <a:noFill/>
          <a:ln w="63500">
            <a:solidFill>
              <a:srgbClr val="FFD166">
                <a:alpha val="9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594360" y="374904"/>
            <a:ext cx="411480" cy="0"/>
          </a:xfrm>
          <a:prstGeom prst="line">
            <a:avLst/>
          </a:prstGeom>
          <a:noFill/>
          <a:ln w="38100">
            <a:solidFill>
              <a:srgbClr val="FF63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06424" y="30175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3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/ ACTIVITY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Workshop Challenge: Fix the Prompt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21792" y="1371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160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a weak prompt into a useful one using </a:t>
            </a:r>
            <a:r>
              <a:rPr lang="en-US" sz="1800" b="1" dirty="0">
                <a:solidFill>
                  <a:srgbClr val="5160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GCSCE</a:t>
            </a:r>
            <a:r>
              <a:rPr lang="en-US" sz="1800" dirty="0">
                <a:solidFill>
                  <a:srgbClr val="5160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6473952"/>
            <a:ext cx="9692640" cy="0"/>
          </a:xfrm>
          <a:prstGeom prst="line">
            <a:avLst/>
          </a:prstGeom>
          <a:noFill/>
          <a:ln w="12700">
            <a:solidFill>
              <a:srgbClr val="D8DC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94360" y="659282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160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Workshop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972800" y="657453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GB" sz="1000">
                <a:solidFill>
                  <a:srgbClr val="182438"/>
                </a:solidFill>
                <a:latin typeface="Aptos"/>
              </a:rPr>
              <a:t>18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192E840-BF32-0326-1F17-35B390EB0767}"/>
              </a:ext>
            </a:extLst>
          </p:cNvPr>
          <p:cNvGrpSpPr/>
          <p:nvPr/>
        </p:nvGrpSpPr>
        <p:grpSpPr>
          <a:xfrm>
            <a:off x="1252630" y="2267712"/>
            <a:ext cx="9686741" cy="1005840"/>
            <a:chOff x="868680" y="1993392"/>
            <a:chExt cx="9686741" cy="1005840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E8D8D0D-6BD5-FFDF-13CC-AE311517305D}"/>
                </a:ext>
              </a:extLst>
            </p:cNvPr>
            <p:cNvGrpSpPr/>
            <p:nvPr/>
          </p:nvGrpSpPr>
          <p:grpSpPr>
            <a:xfrm>
              <a:off x="868680" y="1993392"/>
              <a:ext cx="3977640" cy="1005840"/>
              <a:chOff x="868680" y="1993392"/>
              <a:chExt cx="3977640" cy="1005840"/>
            </a:xfrm>
          </p:grpSpPr>
          <p:sp>
            <p:nvSpPr>
              <p:cNvPr id="11" name="Shape 9"/>
              <p:cNvSpPr/>
              <p:nvPr/>
            </p:nvSpPr>
            <p:spPr>
              <a:xfrm>
                <a:off x="868680" y="1993392"/>
                <a:ext cx="3977640" cy="1005840"/>
              </a:xfrm>
              <a:prstGeom prst="roundRect">
                <a:avLst>
                  <a:gd name="adj" fmla="val 7273"/>
                </a:avLst>
              </a:prstGeom>
              <a:solidFill>
                <a:srgbClr val="FFF7F2"/>
              </a:solidFill>
              <a:ln w="12700">
                <a:solidFill>
                  <a:srgbClr val="FF6363"/>
                </a:solidFill>
                <a:prstDash val="solid"/>
              </a:ln>
              <a:effectLst>
                <a:outerShdw blurRad="15240" dist="7620" dir="27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A0ECF73A-463E-3D7B-4864-9B354C7A11ED}"/>
                  </a:ext>
                </a:extLst>
              </p:cNvPr>
              <p:cNvGrpSpPr/>
              <p:nvPr/>
            </p:nvGrpSpPr>
            <p:grpSpPr>
              <a:xfrm>
                <a:off x="1069848" y="2112264"/>
                <a:ext cx="3611880" cy="731520"/>
                <a:chOff x="1069848" y="2112264"/>
                <a:chExt cx="3611880" cy="731520"/>
              </a:xfrm>
            </p:grpSpPr>
            <p:sp>
              <p:nvSpPr>
                <p:cNvPr id="12" name="Text 10"/>
                <p:cNvSpPr/>
                <p:nvPr/>
              </p:nvSpPr>
              <p:spPr>
                <a:xfrm>
                  <a:off x="1069848" y="2112264"/>
                  <a:ext cx="3611880" cy="20116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>
                    <a:buNone/>
                  </a:pPr>
                  <a:r>
                    <a:rPr lang="en-US" sz="1050" b="1" dirty="0">
                      <a:solidFill>
                        <a:srgbClr val="FF6363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WEAK PROMPT</a:t>
                  </a:r>
                  <a:endParaRPr lang="en-US" sz="1050" dirty="0"/>
                </a:p>
              </p:txBody>
            </p:sp>
            <p:sp>
              <p:nvSpPr>
                <p:cNvPr id="13" name="Text 11"/>
                <p:cNvSpPr/>
                <p:nvPr/>
              </p:nvSpPr>
              <p:spPr>
                <a:xfrm>
                  <a:off x="1097280" y="2432304"/>
                  <a:ext cx="3520440" cy="411480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" tIns="254" rIns="254" bIns="254" rtlCol="0" anchor="ctr">
                  <a:normAutofit/>
                </a:bodyPr>
                <a:lstStyle/>
                <a:p>
                  <a:pPr marL="0" indent="0">
                    <a:buNone/>
                  </a:pPr>
                  <a:r>
                    <a:rPr lang="en-US" sz="2200" b="1" dirty="0">
                      <a:solidFill>
                        <a:srgbClr val="162033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“Help me revise history.”</a:t>
                  </a:r>
                  <a:endParaRPr lang="en-US" sz="2200" dirty="0"/>
                </a:p>
              </p:txBody>
            </p:sp>
          </p:grpSp>
        </p:grpSp>
        <p:sp>
          <p:nvSpPr>
            <p:cNvPr id="14" name="Text 12"/>
            <p:cNvSpPr/>
            <p:nvPr/>
          </p:nvSpPr>
          <p:spPr>
            <a:xfrm>
              <a:off x="5620611" y="2267712"/>
              <a:ext cx="502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400" b="1" dirty="0">
                  <a:solidFill>
                    <a:srgbClr val="2478FF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→</a:t>
              </a:r>
              <a:endParaRPr lang="en-US" sz="3400" dirty="0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405FEE73-8BB1-055C-F35E-7CE764A17AC2}"/>
                </a:ext>
              </a:extLst>
            </p:cNvPr>
            <p:cNvGrpSpPr/>
            <p:nvPr/>
          </p:nvGrpSpPr>
          <p:grpSpPr>
            <a:xfrm>
              <a:off x="6897821" y="1993392"/>
              <a:ext cx="3657600" cy="1005840"/>
              <a:chOff x="5806440" y="1993392"/>
              <a:chExt cx="3657600" cy="1005840"/>
            </a:xfrm>
          </p:grpSpPr>
          <p:sp>
            <p:nvSpPr>
              <p:cNvPr id="15" name="Shape 13"/>
              <p:cNvSpPr/>
              <p:nvPr/>
            </p:nvSpPr>
            <p:spPr>
              <a:xfrm>
                <a:off x="5806440" y="1993392"/>
                <a:ext cx="3657600" cy="1005840"/>
              </a:xfrm>
              <a:prstGeom prst="roundRect">
                <a:avLst>
                  <a:gd name="adj" fmla="val 7273"/>
                </a:avLst>
              </a:prstGeom>
              <a:solidFill>
                <a:srgbClr val="F2FAFF"/>
              </a:solidFill>
              <a:ln w="12700">
                <a:solidFill>
                  <a:srgbClr val="2478FF"/>
                </a:solidFill>
                <a:prstDash val="solid"/>
              </a:ln>
              <a:effectLst>
                <a:outerShdw blurRad="15240" dist="7620" dir="27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AB7665E5-7174-B86C-D1D3-C978F477F66E}"/>
                  </a:ext>
                </a:extLst>
              </p:cNvPr>
              <p:cNvGrpSpPr/>
              <p:nvPr/>
            </p:nvGrpSpPr>
            <p:grpSpPr>
              <a:xfrm>
                <a:off x="6007608" y="2112264"/>
                <a:ext cx="3291840" cy="731520"/>
                <a:chOff x="6007608" y="2112264"/>
                <a:chExt cx="3291840" cy="731520"/>
              </a:xfrm>
            </p:grpSpPr>
            <p:sp>
              <p:nvSpPr>
                <p:cNvPr id="16" name="Text 14"/>
                <p:cNvSpPr/>
                <p:nvPr/>
              </p:nvSpPr>
              <p:spPr>
                <a:xfrm>
                  <a:off x="6007608" y="2112264"/>
                  <a:ext cx="3291840" cy="20116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>
                    <a:buNone/>
                  </a:pPr>
                  <a:r>
                    <a:rPr lang="en-US" sz="1050" b="1" dirty="0">
                      <a:solidFill>
                        <a:srgbClr val="2478FF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YOUR MISSION</a:t>
                  </a:r>
                  <a:endParaRPr lang="en-US" sz="1050" dirty="0"/>
                </a:p>
              </p:txBody>
            </p:sp>
            <p:sp>
              <p:nvSpPr>
                <p:cNvPr id="17" name="Text 15"/>
                <p:cNvSpPr/>
                <p:nvPr/>
              </p:nvSpPr>
              <p:spPr>
                <a:xfrm>
                  <a:off x="6035040" y="2432304"/>
                  <a:ext cx="3200400" cy="411480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" tIns="254" rIns="254" bIns="254" rtlCol="0" anchor="ctr">
                  <a:normAutofit/>
                </a:bodyPr>
                <a:lstStyle/>
                <a:p>
                  <a:pPr marL="0" indent="0">
                    <a:buNone/>
                  </a:pPr>
                  <a:r>
                    <a:rPr lang="en-US" sz="2200" b="1" dirty="0">
                      <a:solidFill>
                        <a:srgbClr val="162033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Upgrade it with GCSCE</a:t>
                  </a:r>
                  <a:endParaRPr lang="en-US" sz="2200" dirty="0"/>
                </a:p>
              </p:txBody>
            </p:sp>
          </p:grpSp>
        </p:grpSp>
      </p:grpSp>
      <p:sp>
        <p:nvSpPr>
          <p:cNvPr id="18" name="Text 16"/>
          <p:cNvSpPr/>
          <p:nvPr/>
        </p:nvSpPr>
        <p:spPr>
          <a:xfrm>
            <a:off x="868680" y="371246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247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435608" y="385876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Goal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68680" y="4407408"/>
            <a:ext cx="1554480" cy="0"/>
          </a:xfrm>
          <a:prstGeom prst="line">
            <a:avLst/>
          </a:prstGeom>
          <a:noFill/>
          <a:ln w="38100">
            <a:solidFill>
              <a:srgbClr val="2478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017520" y="371246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63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3584448" y="385876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017520" y="4407408"/>
            <a:ext cx="1554480" cy="0"/>
          </a:xfrm>
          <a:prstGeom prst="line">
            <a:avLst/>
          </a:prstGeom>
          <a:noFill/>
          <a:ln w="38100">
            <a:solidFill>
              <a:srgbClr val="FF63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166360" y="371246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7EDFB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</a:t>
            </a:r>
            <a:endParaRPr lang="en-US" sz="3300" dirty="0"/>
          </a:p>
        </p:txBody>
      </p:sp>
      <p:sp>
        <p:nvSpPr>
          <p:cNvPr id="25" name="Text 23"/>
          <p:cNvSpPr/>
          <p:nvPr/>
        </p:nvSpPr>
        <p:spPr>
          <a:xfrm>
            <a:off x="5733288" y="385876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Specifics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166360" y="4407408"/>
            <a:ext cx="1554480" cy="0"/>
          </a:xfrm>
          <a:prstGeom prst="line">
            <a:avLst/>
          </a:prstGeom>
          <a:noFill/>
          <a:ln w="38100">
            <a:solidFill>
              <a:srgbClr val="7EDF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7315200" y="371246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D1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</a:t>
            </a:r>
            <a:endParaRPr lang="en-US" sz="3300" dirty="0"/>
          </a:p>
        </p:txBody>
      </p:sp>
      <p:sp>
        <p:nvSpPr>
          <p:cNvPr id="28" name="Text 26"/>
          <p:cNvSpPr/>
          <p:nvPr/>
        </p:nvSpPr>
        <p:spPr>
          <a:xfrm>
            <a:off x="7882128" y="385876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Constraints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315200" y="4407408"/>
            <a:ext cx="1554480" cy="0"/>
          </a:xfrm>
          <a:prstGeom prst="line">
            <a:avLst/>
          </a:prstGeom>
          <a:noFill/>
          <a:ln w="381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9464040" y="371246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A78B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</a:t>
            </a:r>
            <a:endParaRPr lang="en-US" sz="3300" dirty="0"/>
          </a:p>
        </p:txBody>
      </p:sp>
      <p:sp>
        <p:nvSpPr>
          <p:cNvPr id="31" name="Text 29"/>
          <p:cNvSpPr/>
          <p:nvPr/>
        </p:nvSpPr>
        <p:spPr>
          <a:xfrm>
            <a:off x="10030968" y="385876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Evaluate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464040" y="4407408"/>
            <a:ext cx="1554480" cy="0"/>
          </a:xfrm>
          <a:prstGeom prst="line">
            <a:avLst/>
          </a:prstGeom>
          <a:noFill/>
          <a:ln w="381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1005840" y="4818888"/>
            <a:ext cx="9738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1607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minutes solo → 3 minutes compare → share the strongest prompt</a:t>
            </a:r>
            <a:endParaRPr lang="en-US" sz="2400" dirty="0">
              <a:solidFill>
                <a:srgbClr val="516071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0" y="5632704"/>
            <a:ext cx="1219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5160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Hint: choose a school subject/topic, exam level, output format and a quick quiz.</a:t>
            </a:r>
            <a:endParaRPr lang="en-US" sz="16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4CC6DF38925547B741FADBC835D6E5" ma:contentTypeVersion="16" ma:contentTypeDescription="Create a new document." ma:contentTypeScope="" ma:versionID="7e987bb0fbde9bbdd4b13603e869253b">
  <xsd:schema xmlns:xsd="http://www.w3.org/2001/XMLSchema" xmlns:xs="http://www.w3.org/2001/XMLSchema" xmlns:p="http://schemas.microsoft.com/office/2006/metadata/properties" xmlns:ns3="f85cadc2-1788-4676-94b8-4de21a800849" xmlns:ns4="7aceef93-4530-4af6-9fac-1992f48824b3" targetNamespace="http://schemas.microsoft.com/office/2006/metadata/properties" ma:root="true" ma:fieldsID="f94eb3fbb51b1e72febe66c0e9100a49" ns3:_="" ns4:_="">
    <xsd:import namespace="f85cadc2-1788-4676-94b8-4de21a800849"/>
    <xsd:import namespace="7aceef93-4530-4af6-9fac-1992f48824b3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bjectDetectorVersions" minOccurs="0"/>
                <xsd:element ref="ns3:MediaLengthInSeconds" minOccurs="0"/>
                <xsd:element ref="ns3:MediaServiceSystemTag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5cadc2-1788-4676-94b8-4de21a800849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ceef93-4530-4af6-9fac-1992f48824b3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85cadc2-1788-4676-94b8-4de21a800849" xsi:nil="true"/>
  </documentManagement>
</p:properties>
</file>

<file path=customXml/itemProps1.xml><?xml version="1.0" encoding="utf-8"?>
<ds:datastoreItem xmlns:ds="http://schemas.openxmlformats.org/officeDocument/2006/customXml" ds:itemID="{31B4BB1E-A545-4348-B950-164876A7A7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6D6AC68-0E7D-4026-BDAB-978B7CA3AF9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5cadc2-1788-4676-94b8-4de21a800849"/>
    <ds:schemaRef ds:uri="7aceef93-4530-4af6-9fac-1992f48824b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B0812DB-C326-4149-8758-5ADD730019FE}">
  <ds:schemaRefs>
    <ds:schemaRef ds:uri="http://schemas.microsoft.com/office/2006/documentManagement/types"/>
    <ds:schemaRef ds:uri="http://www.w3.org/XML/1998/namespace"/>
    <ds:schemaRef ds:uri="http://purl.org/dc/dcmitype/"/>
    <ds:schemaRef ds:uri="http://schemas.microsoft.com/office/2006/metadata/properties"/>
    <ds:schemaRef ds:uri="http://purl.org/dc/elements/1.1/"/>
    <ds:schemaRef ds:uri="f85cadc2-1788-4676-94b8-4de21a800849"/>
    <ds:schemaRef ds:uri="http://schemas.microsoft.com/office/infopath/2007/PartnerControls"/>
    <ds:schemaRef ds:uri="http://schemas.openxmlformats.org/package/2006/metadata/core-properties"/>
    <ds:schemaRef ds:uri="7aceef93-4530-4af6-9fac-1992f48824b3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4f5ffafc-2407-4998-9cda-2524c60b9014}" enabled="0" method="" siteId="{4f5ffafc-2407-4998-9cda-2524c60b901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1512</TotalTime>
  <Words>3341</Words>
  <Application>Microsoft Office PowerPoint</Application>
  <PresentationFormat>Widescreen</PresentationFormat>
  <Paragraphs>433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Sofroniou, George (GCM/UK)</dc:creator>
  <cp:lastModifiedBy>Sofroniou, George (GCM/UK)</cp:lastModifiedBy>
  <cp:revision>3</cp:revision>
  <dcterms:created xsi:type="dcterms:W3CDTF">2026-06-29T08:20:58Z</dcterms:created>
  <dcterms:modified xsi:type="dcterms:W3CDTF">2026-06-30T11:20:26Z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0x0101006E4CC6DF38925547B741FADBC835D6E5</vt:lpwstr>
  </property>
</Properties>
</file>